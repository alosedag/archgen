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67d5a9c-0d4c-4b37-de8f-1b5e7f5e89b3}">
          <p14:sldIdLst>
            <p14:sldId id="256"/>
          </p14:sldIdLst>
        </p14:section>
        <p14:section name="Why we built it" id="{1d6e11ef-9e85-318d-85cc-2c9cd1e7496a}">
          <p14:sldIdLst>
            <p14:sldId id="257"/>
            <p14:sldId id="258"/>
          </p14:sldIdLst>
        </p14:section>
        <p14:section name="What it does" id="{0292163d-11d6-13a1-ddbb-69724069f31f}">
          <p14:sldIdLst>
            <p14:sldId id="259"/>
            <p14:sldId id="260"/>
            <p14:sldId id="261"/>
            <p14:sldId id="262"/>
            <p14:sldId id="263"/>
            <p14:sldId id="264"/>
          </p14:sldIdLst>
        </p14:section>
        <p14:section name="Why it matters" id="{60b40175-d308-c4de-001c-36a3a32e845e}">
          <p14:sldIdLst>
            <p14:sldId id="265"/>
            <p14:sldId id="266"/>
          </p14:sldIdLst>
        </p14:section>
        <p14:section name="How to use it" id="{32eeeff2-b05e-373b-7cdc-3565187b09ae}">
          <p14:sldIdLst>
            <p14:sldId id="267"/>
            <p14:sldId id="268"/>
          </p14:sldIdLst>
        </p14:section>
        <p14:section name="What's next" id="{5de3a0e4-12c7-1d0e-9db9-cdec5f669c3f}">
          <p14:sldIdLst>
            <p14:sldId id="269"/>
            <p14:sldId id="270"/>
            <p14:sldId id="271"/>
            <p14:sldId id="272"/>
          </p14:sldIdLst>
        </p14:section>
        <p14:section name="Close" id="{64712fd5-5b13-3cc1-d670-42ae0b50be11}">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I'll show you ArchitectureScope: a tool we built to take a HubSpot project from the very first client call all the way to go-live, in one place.
The five icons on the right are the journey we'll walk through: Discover, Assess, Design, Propose and Deliver. I'll explain why we built it, what it does at each step, show it live, and then where it's going next. There's time for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talking about the tool, the problem. Every HubSpot implementation starts the same way: a discovery call, then a lot of documents.
Notes end up scattered. Important questions get missed: a classic one is data privacy when a client has contacts in Europe. If nobody asks on the call, it shows up months later as rework.
Every audit, diagram and proposal is built by hand, and every consultant does it a little differently. None of this is anyone's fault; it's what happens without a shared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ArchitectureScope. In one sentence: an app that guides a HubSpot project step by step and turns what we learn into professional documents.
Three numbers: eleven tools that used to be separate are now one app. Five steps cover the whole project. And zero: it never changes anything in a client's HubSpot. It only reads, which I'll come back to, because it's important for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on one slide. A project goes through five steps: Discover, Assess, Design, Propose and Deliver. The app's menu follows exactly this order, so a new person can simply work top to bottom.
The key point is at the bottom: each step feeds the next. You don't retype things. Let's go through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Discover. During the call, instead of a blank document, the specialist has guided questions grouped into goals, data, processes and solution needs.
Most questions have the common answers as quick picks, like on the right: where are the client's customers located? One click for EU/UK, plus a short note. Anything that needs a second look gets a follow-up flag.
After the call, one click turns those rough notes into a clean business-analysis document, plus a simple explainer of the HubSpot hubs the client needs. The AI never invents facts: anything we didn't capture is listed as an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Assess. Many clients already have HubSpot. We connect to their portal and the app checks it against our best practices.
It finds duplicates, naming problems, automations that could overwrite data, and records that aren't connected to anything. It rates every field Keep, Review or Remove, which makes clean-up conversations easy. And it produces an executive report with a simple health rating, from Needs Attention to Excellent, that the client understands without being technical.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Design. You describe the client's business: which hubs, which integrations, what they need to track. The app proposes the HubSpot structure: records, fields, pipelines and suggested automations, all following the same best-practice rules.
It also flags automations that could overwrite data, before we build them. And it draws the architecture as a diagram, like the example on the right, that we can share with the client or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Propose. This is where sales and delivery meet. The proposal builder pulls in the requirements we captured, and we pick scope items from a standard library, each with clear acceptance criteria.
Pricing adds up automatically. And my favourite feature: a coverage check that warns you when a client requirement isn't covered by anything in scope. That's how we avoid promising something we didn't plan to build. The result is a branded proposal and Statement of Work, ready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Deliver. The test plan is built from the client's own requirements, so at hand-over we can show each requirement works.
Everything we generate for a client is saved in the project library, dated, so anyone on the team can find it later. And all documents come out as Word, Excel or PDF, so people keep working in the tools they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for the company? Six reasons.
Faster: documents that took hours are drafted in minutes. Consistent: everyone follows the same steps. Fewer surprises: gaps and risks are flagged early. More professional: every client gets polished documents. Clear hand-offs between sales, consultants and implementation. And knowledge stays with us: our best practices are written into the tool, so they don't leave when someone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I always get: is it safe to connect this to a client's HubSpot? Yes, and by design.
It is read-only. It can look, but it cannot change or delete anything, and that's enforced in the code and checked by automatic tests every time something changes.
The AI helps, but people decide: it never invents facts, and anything we didn't capture becomes a follow-up question. And every document can be reviewed and edited before a client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using it on a project looks like this. Open the app and name the client. Run the call with the guided questions. Generate the business analysis and the client explainer. If the client already has HubSpot, connect it, read-only, to audit it. Then design the architecture and build the proposal. Everything is saved in the client's project library.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(about 5 minutes)
1. Open the app. Show the sidebar: it follows Discover, Assess, Design, Propose, Deliver.
2. Discovery Call Assistant: type a client name and business type (e.g. 'multi-location dental practice').
3. In Goals, pick a few KPIs. In Data, pick 'EU / UK' for customer location and add a short note. Flag one question for follow-up.
4. Show the 'Flagged for follow-up' summary above the Generate button.
5. Click 'Generate business analysis' and let the document appear. Point out 'Open Questions &amp; Gaps'.
6. Switch to the Client explainer tab and generate it for the recommended hubs.
7. Optional: Architecture Generator with the sample project, then the diagram.
8. Save to the Project Library.
Backup if the internet fails: show a previously exported PDF from the project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this going? Today's app works, but it was built as a prototype. We've started rebuilding it into a proper product. The end goal: one shared workspace per client, for the whole team.
A modern web app that's faster and never loses your work. Team workspaces with Google sign-in. Smarter discovery: if a client has contacts in Europe, the app will automatically ask the privacy questions and add the required tasks. And a build order: a ready checklist for the implementation team that comes straight out of the discovery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 ahead, in order rather than with dates.
Today: all eleven tools are available, and we've just rebuilt the foundation underneath so it can grow safely, without changing what you see.
Next: accounts and saved work, so the whole team shares projects.
Then: the new web app, starting with Discovery, because it's where everything begins.
Later: every tool in the new workspace, with dashboards and interactive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for you? For sales: proposals that are faster to build and match what we deliver. For consultants: a guide for every call and documents drafted for you. For implementation: a clear build order and fewer surprises. And for leadership: consistent quality and a shared view of every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you can help. Try it: use the Discovery Call Assistant on your next client call. Tell us what's missing: what slowed you down, what you'd add. And shape the standards: the questions, the answer options and the best-practice rules are simple settings files, so the people who know the work best can improve them without a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and to give anyone a closer look at their own next project after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400" b="1" dirty="0">
                <a:solidFill>
                  <a:schemeClr val="tx2"/>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3" name="Text 0"/>
          <p:cNvSpPr/>
          <p:nvPr/>
        </p:nvSpPr>
        <p:spPr>
          <a:xfrm>
            <a:off x="548640" y="6382512"/>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ArchitectureScope</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A205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694944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520440"/>
            <a:ext cx="6583680" cy="118872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3D2E7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73152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611880"/>
            <a:ext cx="6858000" cy="91440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ED9F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6949440" cy="1280160"/>
          </a:xfrm>
          <a:prstGeom prst="rect">
            <a:avLst/>
          </a:prstGeom>
          <a:noFill/>
          <a:ln/>
        </p:spPr>
        <p:txBody>
          <a:bodyPr wrap="square" lIns="0" tIns="0" rIns="0" bIns="0" rtlCol="0" anchor="b"/>
          <a:lstStyle/>
          <a:p>
            <a:pPr algn="l" indent="0" marL="0">
              <a:buNone/>
            </a:pPr>
            <a:r>
              <a:rPr lang="en-US" sz="4800" b="1" dirty="0">
                <a:solidFill>
                  <a:schemeClr val="bg1"/>
                </a:solidFill>
              </a:rPr>
              <a:t>ArchitectureScope</a:t>
            </a:r>
            <a:endParaRPr lang="en-US" sz="4800" dirty="0"/>
          </a:p>
        </p:txBody>
      </p:sp>
      <p:sp>
        <p:nvSpPr>
          <p:cNvPr id="3" name="Text 0"/>
          <p:cNvSpPr/>
          <p:nvPr>
            <p:ph idx="101" type="body" hasCustomPrompt="1"/>
          </p:nvPr>
        </p:nvSpPr>
        <p:spPr>
          <a:xfrm>
            <a:off x="548640" y="3520440"/>
            <a:ext cx="6583680" cy="1188720"/>
          </a:xfrm>
          <a:prstGeom prst="rect">
            <a:avLst/>
          </a:prstGeom>
          <a:noFill/>
          <a:ln/>
        </p:spPr>
        <p:txBody>
          <a:bodyPr wrap="square" lIns="0" tIns="0" rIns="0" bIns="0" rtlCol="0" anchor="t"/>
          <a:lstStyle/>
          <a:p>
            <a:pPr algn="l" indent="0" marL="0">
              <a:buNone/>
            </a:pPr>
            <a:r>
              <a:rPr lang="en-US" sz="2000" dirty="0">
                <a:solidFill>
                  <a:schemeClr val="accent4"/>
                </a:solidFill>
              </a:rPr>
              <a:t>From the first client call to go-live, in one place</a:t>
            </a:r>
            <a:endParaRPr lang="en-US" sz="2000" dirty="0"/>
          </a:p>
        </p:txBody>
      </p:sp>
      <p:sp>
        <p:nvSpPr>
          <p:cNvPr id="4" name="Text 2"/>
          <p:cNvSpPr txBox="1"/>
          <p:nvPr/>
        </p:nvSpPr>
        <p:spPr>
          <a:xfrm>
            <a:off x="548640" y="5852160"/>
            <a:ext cx="5486400" cy="365760"/>
          </a:xfrm>
          <a:prstGeom prst="rect">
            <a:avLst/>
          </a:prstGeom>
          <a:noFill/>
          <a:ln/>
        </p:spPr>
        <p:txBody>
          <a:bodyPr wrap="square" lIns="0" tIns="0" rIns="0" bIns="0" rtlCol="0" anchor="t"/>
          <a:lstStyle/>
          <a:p>
            <a:pPr indent="0" marL="0">
              <a:buNone/>
            </a:pPr>
            <a:r>
              <a:rPr lang="en-US" sz="1400" dirty="0">
                <a:solidFill>
                  <a:schemeClr val="accent4"/>
                </a:solidFill>
              </a:rPr>
              <a:t>Company presentation  ·  October 2026</a:t>
            </a:r>
            <a:endParaRPr lang="en-US" sz="1400" dirty="0"/>
          </a:p>
        </p:txBody>
      </p:sp>
      <p:sp>
        <p:nvSpPr>
          <p:cNvPr id="5" name="journey-0-circle"/>
          <p:cNvSpPr/>
          <p:nvPr/>
        </p:nvSpPr>
        <p:spPr>
          <a:xfrm>
            <a:off x="9555480" y="1051560"/>
            <a:ext cx="731520" cy="731520"/>
          </a:xfrm>
          <a:prstGeom prst="ellipse">
            <a:avLst/>
          </a:prstGeom>
          <a:solidFill>
            <a:schemeClr val="accent2"/>
          </a:solidFill>
          <a:ln w="12700">
            <a:solidFill>
              <a:schemeClr val="accent2"/>
            </a:solidFill>
            <a:prstDash val="solid"/>
          </a:ln>
        </p:spPr>
      </p:sp>
      <p:pic>
        <p:nvPicPr>
          <p:cNvPr id="6" name="journey-0-icon" descr="FaComments">    </p:cNvPr>
          <p:cNvPicPr>
            <a:picLocks noChangeAspect="1"/>
          </p:cNvPicPr>
          <p:nvPr/>
        </p:nvPicPr>
        <p:blipFill>
          <a:blip r:embed="rId1"/>
          <a:stretch>
            <a:fillRect/>
          </a:stretch>
        </p:blipFill>
        <p:spPr>
          <a:xfrm>
            <a:off x="9738360" y="1234440"/>
            <a:ext cx="365760" cy="365760"/>
          </a:xfrm>
          <a:prstGeom prst="rect">
            <a:avLst/>
          </a:prstGeom>
        </p:spPr>
      </p:pic>
      <p:sp>
        <p:nvSpPr>
          <p:cNvPr id="7" name="journey-link-1"/>
          <p:cNvSpPr/>
          <p:nvPr/>
        </p:nvSpPr>
        <p:spPr>
          <a:xfrm>
            <a:off x="9921240" y="1783080"/>
            <a:ext cx="0" cy="256032"/>
          </a:xfrm>
          <a:prstGeom prst="line">
            <a:avLst/>
          </a:prstGeom>
          <a:noFill/>
          <a:ln w="25400">
            <a:solidFill>
              <a:srgbClr val="5B45B0"/>
            </a:solidFill>
            <a:prstDash val="solid"/>
          </a:ln>
        </p:spPr>
      </p:sp>
      <p:sp>
        <p:nvSpPr>
          <p:cNvPr id="8" name="journey-1-circle"/>
          <p:cNvSpPr/>
          <p:nvPr/>
        </p:nvSpPr>
        <p:spPr>
          <a:xfrm>
            <a:off x="9555480" y="2039112"/>
            <a:ext cx="731520" cy="731520"/>
          </a:xfrm>
          <a:prstGeom prst="ellipse">
            <a:avLst/>
          </a:prstGeom>
          <a:solidFill>
            <a:schemeClr val="accent1"/>
          </a:solidFill>
          <a:ln w="12700">
            <a:solidFill>
              <a:schemeClr val="accent1"/>
            </a:solidFill>
            <a:prstDash val="solid"/>
          </a:ln>
        </p:spPr>
      </p:sp>
      <p:pic>
        <p:nvPicPr>
          <p:cNvPr id="9" name="journey-1-icon" descr="FaMagnifyingGlassChart">    </p:cNvPr>
          <p:cNvPicPr>
            <a:picLocks noChangeAspect="1"/>
          </p:cNvPicPr>
          <p:nvPr/>
        </p:nvPicPr>
        <p:blipFill>
          <a:blip r:embed="rId2"/>
          <a:stretch>
            <a:fillRect/>
          </a:stretch>
        </p:blipFill>
        <p:spPr>
          <a:xfrm>
            <a:off x="9738360" y="2221992"/>
            <a:ext cx="365760" cy="365760"/>
          </a:xfrm>
          <a:prstGeom prst="rect">
            <a:avLst/>
          </a:prstGeom>
        </p:spPr>
      </p:pic>
      <p:sp>
        <p:nvSpPr>
          <p:cNvPr id="10" name="journey-link-2"/>
          <p:cNvSpPr/>
          <p:nvPr/>
        </p:nvSpPr>
        <p:spPr>
          <a:xfrm>
            <a:off x="9921240" y="2770632"/>
            <a:ext cx="0" cy="256032"/>
          </a:xfrm>
          <a:prstGeom prst="line">
            <a:avLst/>
          </a:prstGeom>
          <a:noFill/>
          <a:ln w="25400">
            <a:solidFill>
              <a:srgbClr val="5B45B0"/>
            </a:solidFill>
            <a:prstDash val="solid"/>
          </a:ln>
        </p:spPr>
      </p:sp>
      <p:sp>
        <p:nvSpPr>
          <p:cNvPr id="11" name="journey-2-circle"/>
          <p:cNvSpPr/>
          <p:nvPr/>
        </p:nvSpPr>
        <p:spPr>
          <a:xfrm>
            <a:off x="9555480" y="3026664"/>
            <a:ext cx="731520" cy="731520"/>
          </a:xfrm>
          <a:prstGeom prst="ellipse">
            <a:avLst/>
          </a:prstGeom>
          <a:solidFill>
            <a:schemeClr val="accent1"/>
          </a:solidFill>
          <a:ln w="12700">
            <a:solidFill>
              <a:schemeClr val="accent1"/>
            </a:solidFill>
            <a:prstDash val="solid"/>
          </a:ln>
        </p:spPr>
      </p:sp>
      <p:pic>
        <p:nvPicPr>
          <p:cNvPr id="12" name="journey-2-icon" descr="FaDiagramProject">    </p:cNvPr>
          <p:cNvPicPr>
            <a:picLocks noChangeAspect="1"/>
          </p:cNvPicPr>
          <p:nvPr/>
        </p:nvPicPr>
        <p:blipFill>
          <a:blip r:embed="rId3"/>
          <a:stretch>
            <a:fillRect/>
          </a:stretch>
        </p:blipFill>
        <p:spPr>
          <a:xfrm>
            <a:off x="9738360" y="3209544"/>
            <a:ext cx="365760" cy="365760"/>
          </a:xfrm>
          <a:prstGeom prst="rect">
            <a:avLst/>
          </a:prstGeom>
        </p:spPr>
      </p:pic>
      <p:sp>
        <p:nvSpPr>
          <p:cNvPr id="13" name="journey-link-3"/>
          <p:cNvSpPr/>
          <p:nvPr/>
        </p:nvSpPr>
        <p:spPr>
          <a:xfrm>
            <a:off x="9921240" y="3758184"/>
            <a:ext cx="0" cy="256032"/>
          </a:xfrm>
          <a:prstGeom prst="line">
            <a:avLst/>
          </a:prstGeom>
          <a:noFill/>
          <a:ln w="25400">
            <a:solidFill>
              <a:srgbClr val="5B45B0"/>
            </a:solidFill>
            <a:prstDash val="solid"/>
          </a:ln>
        </p:spPr>
      </p:sp>
      <p:sp>
        <p:nvSpPr>
          <p:cNvPr id="14" name="journey-3-circle"/>
          <p:cNvSpPr/>
          <p:nvPr/>
        </p:nvSpPr>
        <p:spPr>
          <a:xfrm>
            <a:off x="9555480" y="4014216"/>
            <a:ext cx="731520" cy="731520"/>
          </a:xfrm>
          <a:prstGeom prst="ellipse">
            <a:avLst/>
          </a:prstGeom>
          <a:solidFill>
            <a:schemeClr val="accent1"/>
          </a:solidFill>
          <a:ln w="12700">
            <a:solidFill>
              <a:schemeClr val="accent1"/>
            </a:solidFill>
            <a:prstDash val="solid"/>
          </a:ln>
        </p:spPr>
      </p:sp>
      <p:pic>
        <p:nvPicPr>
          <p:cNvPr id="15" name="journey-3-icon" descr="FaFileSignature">    </p:cNvPr>
          <p:cNvPicPr>
            <a:picLocks noChangeAspect="1"/>
          </p:cNvPicPr>
          <p:nvPr/>
        </p:nvPicPr>
        <p:blipFill>
          <a:blip r:embed="rId4"/>
          <a:stretch>
            <a:fillRect/>
          </a:stretch>
        </p:blipFill>
        <p:spPr>
          <a:xfrm>
            <a:off x="9738360" y="4197096"/>
            <a:ext cx="365760" cy="365760"/>
          </a:xfrm>
          <a:prstGeom prst="rect">
            <a:avLst/>
          </a:prstGeom>
        </p:spPr>
      </p:pic>
      <p:sp>
        <p:nvSpPr>
          <p:cNvPr id="16" name="journey-link-4"/>
          <p:cNvSpPr/>
          <p:nvPr/>
        </p:nvSpPr>
        <p:spPr>
          <a:xfrm>
            <a:off x="9921240" y="4745736"/>
            <a:ext cx="0" cy="256032"/>
          </a:xfrm>
          <a:prstGeom prst="line">
            <a:avLst/>
          </a:prstGeom>
          <a:noFill/>
          <a:ln w="25400">
            <a:solidFill>
              <a:srgbClr val="5B45B0"/>
            </a:solidFill>
            <a:prstDash val="solid"/>
          </a:ln>
        </p:spPr>
      </p:sp>
      <p:sp>
        <p:nvSpPr>
          <p:cNvPr id="17" name="journey-4-circle"/>
          <p:cNvSpPr/>
          <p:nvPr/>
        </p:nvSpPr>
        <p:spPr>
          <a:xfrm>
            <a:off x="9555480" y="5001768"/>
            <a:ext cx="731520" cy="731520"/>
          </a:xfrm>
          <a:prstGeom prst="ellipse">
            <a:avLst/>
          </a:prstGeom>
          <a:solidFill>
            <a:schemeClr val="accent1"/>
          </a:solidFill>
          <a:ln w="12700">
            <a:solidFill>
              <a:schemeClr val="accent1"/>
            </a:solidFill>
            <a:prstDash val="solid"/>
          </a:ln>
        </p:spPr>
      </p:sp>
      <p:pic>
        <p:nvPicPr>
          <p:cNvPr id="18" name="journey-4-icon" descr="FaListCheck">    </p:cNvPr>
          <p:cNvPicPr>
            <a:picLocks noChangeAspect="1"/>
          </p:cNvPicPr>
          <p:nvPr/>
        </p:nvPicPr>
        <p:blipFill>
          <a:blip r:embed="rId5"/>
          <a:stretch>
            <a:fillRect/>
          </a:stretch>
        </p:blipFill>
        <p:spPr>
          <a:xfrm>
            <a:off x="9738360" y="5184648"/>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Every implementation starts the same way</a:t>
            </a:r>
            <a:endParaRPr lang="en-US" sz="3400" dirty="0"/>
          </a:p>
        </p:txBody>
      </p:sp>
      <p:sp>
        <p:nvSpPr>
          <p:cNvPr id="3" name="problem-card-0"/>
          <p:cNvSpPr/>
          <p:nvPr/>
        </p:nvSpPr>
        <p:spPr>
          <a:xfrm>
            <a:off x="548640" y="1600200"/>
            <a:ext cx="2567864" cy="3749040"/>
          </a:xfrm>
          <a:prstGeom prst="roundRect">
            <a:avLst>
              <a:gd name="adj" fmla="val 4273"/>
            </a:avLst>
          </a:prstGeom>
          <a:solidFill>
            <a:schemeClr val="bg2"/>
          </a:solidFill>
          <a:ln w="12700">
            <a:solidFill>
              <a:schemeClr val="bg2"/>
            </a:solidFill>
            <a:prstDash val="solid"/>
          </a:ln>
        </p:spPr>
      </p:sp>
      <p:sp>
        <p:nvSpPr>
          <p:cNvPr id="4" name="problem-0-circle"/>
          <p:cNvSpPr/>
          <p:nvPr/>
        </p:nvSpPr>
        <p:spPr>
          <a:xfrm>
            <a:off x="868680" y="1920240"/>
            <a:ext cx="777240" cy="777240"/>
          </a:xfrm>
          <a:prstGeom prst="ellipse">
            <a:avLst/>
          </a:prstGeom>
          <a:solidFill>
            <a:schemeClr val="accent2"/>
          </a:solidFill>
          <a:ln w="12700">
            <a:solidFill>
              <a:schemeClr val="accent2"/>
            </a:solidFill>
            <a:prstDash val="solid"/>
          </a:ln>
        </p:spPr>
      </p:sp>
      <p:pic>
        <p:nvPicPr>
          <p:cNvPr id="5" name="problem-0-icon" descr="FaNoteSticky">    </p:cNvPr>
          <p:cNvPicPr>
            <a:picLocks noChangeAspect="1"/>
          </p:cNvPicPr>
          <p:nvPr/>
        </p:nvPicPr>
        <p:blipFill>
          <a:blip r:embed="rId1"/>
          <a:stretch>
            <a:fillRect/>
          </a:stretch>
        </p:blipFill>
        <p:spPr>
          <a:xfrm>
            <a:off x="1062990" y="2114550"/>
            <a:ext cx="388620" cy="388620"/>
          </a:xfrm>
          <a:prstGeom prst="rect">
            <a:avLst/>
          </a:prstGeom>
        </p:spPr>
      </p:pic>
      <p:sp>
        <p:nvSpPr>
          <p:cNvPr id="6" name="Text 3"/>
          <p:cNvSpPr txBox="1"/>
          <p:nvPr/>
        </p:nvSpPr>
        <p:spPr>
          <a:xfrm>
            <a:off x="868680" y="2971800"/>
            <a:ext cx="1927784" cy="731520"/>
          </a:xfrm>
          <a:prstGeom prst="rect">
            <a:avLst/>
          </a:prstGeom>
          <a:noFill/>
          <a:ln/>
        </p:spPr>
        <p:txBody>
          <a:bodyPr wrap="square" lIns="0" tIns="0" rIns="0" bIns="0" rtlCol="0" anchor="t"/>
          <a:lstStyle/>
          <a:p>
            <a:pPr indent="0" marL="0">
              <a:buNone/>
            </a:pPr>
            <a:r>
              <a:rPr lang="en-US" sz="2000" b="1" dirty="0">
                <a:solidFill>
                  <a:schemeClr val="tx2"/>
                </a:solidFill>
              </a:rPr>
              <a:t>Notes everywhere</a:t>
            </a:r>
            <a:endParaRPr lang="en-US" sz="2000" dirty="0"/>
          </a:p>
        </p:txBody>
      </p:sp>
      <p:sp>
        <p:nvSpPr>
          <p:cNvPr id="7" name="Text 4"/>
          <p:cNvSpPr txBox="1"/>
          <p:nvPr/>
        </p:nvSpPr>
        <p:spPr>
          <a:xfrm>
            <a:off x="868680" y="3749040"/>
            <a:ext cx="1927784" cy="1737360"/>
          </a:xfrm>
          <a:prstGeom prst="rect">
            <a:avLst/>
          </a:prstGeom>
          <a:noFill/>
          <a:ln/>
        </p:spPr>
        <p:txBody>
          <a:bodyPr wrap="square" lIns="0" tIns="0" rIns="0" bIns="0" rtlCol="0" anchor="t"/>
          <a:lstStyle/>
          <a:p>
            <a:pPr indent="0" marL="0">
              <a:buNone/>
            </a:pPr>
            <a:r>
              <a:rPr lang="en-US" sz="1500" dirty="0">
                <a:solidFill>
                  <a:schemeClr val="tx1"/>
                </a:solidFill>
              </a:rPr>
              <a:t>Call notes live in documents, spreadsheets and inboxes, and are hard to share with the team.</a:t>
            </a:r>
            <a:endParaRPr lang="en-US" sz="1500" dirty="0"/>
          </a:p>
        </p:txBody>
      </p:sp>
      <p:sp>
        <p:nvSpPr>
          <p:cNvPr id="8" name="problem-card-1"/>
          <p:cNvSpPr/>
          <p:nvPr/>
        </p:nvSpPr>
        <p:spPr>
          <a:xfrm>
            <a:off x="3390824" y="1600200"/>
            <a:ext cx="2567864" cy="3749040"/>
          </a:xfrm>
          <a:prstGeom prst="roundRect">
            <a:avLst>
              <a:gd name="adj" fmla="val 4273"/>
            </a:avLst>
          </a:prstGeom>
          <a:solidFill>
            <a:schemeClr val="bg2"/>
          </a:solidFill>
          <a:ln w="12700">
            <a:solidFill>
              <a:schemeClr val="bg2"/>
            </a:solidFill>
            <a:prstDash val="solid"/>
          </a:ln>
        </p:spPr>
      </p:sp>
      <p:sp>
        <p:nvSpPr>
          <p:cNvPr id="9" name="problem-1-circle"/>
          <p:cNvSpPr/>
          <p:nvPr/>
        </p:nvSpPr>
        <p:spPr>
          <a:xfrm>
            <a:off x="3710864" y="1920240"/>
            <a:ext cx="777240" cy="777240"/>
          </a:xfrm>
          <a:prstGeom prst="ellipse">
            <a:avLst/>
          </a:prstGeom>
          <a:solidFill>
            <a:schemeClr val="accent2"/>
          </a:solidFill>
          <a:ln w="12700">
            <a:solidFill>
              <a:schemeClr val="accent2"/>
            </a:solidFill>
            <a:prstDash val="solid"/>
          </a:ln>
        </p:spPr>
      </p:sp>
      <p:pic>
        <p:nvPicPr>
          <p:cNvPr id="10" name="problem-1-icon" descr="FaTriangleExclamation">    </p:cNvPr>
          <p:cNvPicPr>
            <a:picLocks noChangeAspect="1"/>
          </p:cNvPicPr>
          <p:nvPr/>
        </p:nvPicPr>
        <p:blipFill>
          <a:blip r:embed="rId2"/>
          <a:stretch>
            <a:fillRect/>
          </a:stretch>
        </p:blipFill>
        <p:spPr>
          <a:xfrm>
            <a:off x="3905174" y="2114550"/>
            <a:ext cx="388620" cy="388620"/>
          </a:xfrm>
          <a:prstGeom prst="rect">
            <a:avLst/>
          </a:prstGeom>
        </p:spPr>
      </p:pic>
      <p:sp>
        <p:nvSpPr>
          <p:cNvPr id="11" name="Text 7"/>
          <p:cNvSpPr txBox="1"/>
          <p:nvPr/>
        </p:nvSpPr>
        <p:spPr>
          <a:xfrm>
            <a:off x="3710864" y="2971800"/>
            <a:ext cx="1927784" cy="731520"/>
          </a:xfrm>
          <a:prstGeom prst="rect">
            <a:avLst/>
          </a:prstGeom>
          <a:noFill/>
          <a:ln/>
        </p:spPr>
        <p:txBody>
          <a:bodyPr wrap="square" lIns="0" tIns="0" rIns="0" bIns="0" rtlCol="0" anchor="t"/>
          <a:lstStyle/>
          <a:p>
            <a:pPr indent="0" marL="0">
              <a:buNone/>
            </a:pPr>
            <a:r>
              <a:rPr lang="en-US" sz="2000" b="1" dirty="0">
                <a:solidFill>
                  <a:schemeClr val="tx2"/>
                </a:solidFill>
              </a:rPr>
              <a:t>Questions get missed</a:t>
            </a:r>
            <a:endParaRPr lang="en-US" sz="2000" dirty="0"/>
          </a:p>
        </p:txBody>
      </p:sp>
      <p:sp>
        <p:nvSpPr>
          <p:cNvPr id="12" name="Text 8"/>
          <p:cNvSpPr txBox="1"/>
          <p:nvPr/>
        </p:nvSpPr>
        <p:spPr>
          <a:xfrm>
            <a:off x="3710864" y="3749040"/>
            <a:ext cx="1927784" cy="1737360"/>
          </a:xfrm>
          <a:prstGeom prst="rect">
            <a:avLst/>
          </a:prstGeom>
          <a:noFill/>
          <a:ln/>
        </p:spPr>
        <p:txBody>
          <a:bodyPr wrap="square" lIns="0" tIns="0" rIns="0" bIns="0" rtlCol="0" anchor="t"/>
          <a:lstStyle/>
          <a:p>
            <a:pPr indent="0" marL="0">
              <a:buNone/>
            </a:pPr>
            <a:r>
              <a:rPr lang="en-US" sz="1500" dirty="0">
                <a:solidFill>
                  <a:schemeClr val="tx1"/>
                </a:solidFill>
              </a:rPr>
              <a:t>A question nobody asked on the call, like data privacy for European contacts, becomes rework months later.</a:t>
            </a:r>
            <a:endParaRPr lang="en-US" sz="1500" dirty="0"/>
          </a:p>
        </p:txBody>
      </p:sp>
      <p:sp>
        <p:nvSpPr>
          <p:cNvPr id="13" name="problem-card-2"/>
          <p:cNvSpPr/>
          <p:nvPr/>
        </p:nvSpPr>
        <p:spPr>
          <a:xfrm>
            <a:off x="6233008" y="1600200"/>
            <a:ext cx="2567864" cy="3749040"/>
          </a:xfrm>
          <a:prstGeom prst="roundRect">
            <a:avLst>
              <a:gd name="adj" fmla="val 4273"/>
            </a:avLst>
          </a:prstGeom>
          <a:solidFill>
            <a:schemeClr val="bg2"/>
          </a:solidFill>
          <a:ln w="12700">
            <a:solidFill>
              <a:schemeClr val="bg2"/>
            </a:solidFill>
            <a:prstDash val="solid"/>
          </a:ln>
        </p:spPr>
      </p:sp>
      <p:sp>
        <p:nvSpPr>
          <p:cNvPr id="14" name="problem-2-circle"/>
          <p:cNvSpPr/>
          <p:nvPr/>
        </p:nvSpPr>
        <p:spPr>
          <a:xfrm>
            <a:off x="6553048" y="1920240"/>
            <a:ext cx="777240" cy="777240"/>
          </a:xfrm>
          <a:prstGeom prst="ellipse">
            <a:avLst/>
          </a:prstGeom>
          <a:solidFill>
            <a:schemeClr val="accent2"/>
          </a:solidFill>
          <a:ln w="12700">
            <a:solidFill>
              <a:schemeClr val="accent2"/>
            </a:solidFill>
            <a:prstDash val="solid"/>
          </a:ln>
        </p:spPr>
      </p:sp>
      <p:pic>
        <p:nvPicPr>
          <p:cNvPr id="15" name="problem-2-icon" descr="FaCopy">    </p:cNvPr>
          <p:cNvPicPr>
            <a:picLocks noChangeAspect="1"/>
          </p:cNvPicPr>
          <p:nvPr/>
        </p:nvPicPr>
        <p:blipFill>
          <a:blip r:embed="rId3"/>
          <a:stretch>
            <a:fillRect/>
          </a:stretch>
        </p:blipFill>
        <p:spPr>
          <a:xfrm>
            <a:off x="6747358" y="2114550"/>
            <a:ext cx="388620" cy="388620"/>
          </a:xfrm>
          <a:prstGeom prst="rect">
            <a:avLst/>
          </a:prstGeom>
        </p:spPr>
      </p:pic>
      <p:sp>
        <p:nvSpPr>
          <p:cNvPr id="16" name="Text 11"/>
          <p:cNvSpPr txBox="1"/>
          <p:nvPr/>
        </p:nvSpPr>
        <p:spPr>
          <a:xfrm>
            <a:off x="6553048" y="2971800"/>
            <a:ext cx="1927784" cy="731520"/>
          </a:xfrm>
          <a:prstGeom prst="rect">
            <a:avLst/>
          </a:prstGeom>
          <a:noFill/>
          <a:ln/>
        </p:spPr>
        <p:txBody>
          <a:bodyPr wrap="square" lIns="0" tIns="0" rIns="0" bIns="0" rtlCol="0" anchor="t"/>
          <a:lstStyle/>
          <a:p>
            <a:pPr indent="0" marL="0">
              <a:buNone/>
            </a:pPr>
            <a:r>
              <a:rPr lang="en-US" sz="2000" b="1" dirty="0">
                <a:solidFill>
                  <a:schemeClr val="tx2"/>
                </a:solidFill>
              </a:rPr>
              <a:t>Documents from scratch</a:t>
            </a:r>
            <a:endParaRPr lang="en-US" sz="2000" dirty="0"/>
          </a:p>
        </p:txBody>
      </p:sp>
      <p:sp>
        <p:nvSpPr>
          <p:cNvPr id="17" name="Text 12"/>
          <p:cNvSpPr txBox="1"/>
          <p:nvPr/>
        </p:nvSpPr>
        <p:spPr>
          <a:xfrm>
            <a:off x="6553048" y="3749040"/>
            <a:ext cx="1927784" cy="1737360"/>
          </a:xfrm>
          <a:prstGeom prst="rect">
            <a:avLst/>
          </a:prstGeom>
          <a:noFill/>
          <a:ln/>
        </p:spPr>
        <p:txBody>
          <a:bodyPr wrap="square" lIns="0" tIns="0" rIns="0" bIns="0" rtlCol="0" anchor="t"/>
          <a:lstStyle/>
          <a:p>
            <a:pPr indent="0" marL="0">
              <a:buNone/>
            </a:pPr>
            <a:r>
              <a:rPr lang="en-US" sz="1500" dirty="0">
                <a:solidFill>
                  <a:schemeClr val="tx1"/>
                </a:solidFill>
              </a:rPr>
              <a:t>Audits, diagrams and proposals are rebuilt by hand for every client.</a:t>
            </a:r>
            <a:endParaRPr lang="en-US" sz="1500" dirty="0"/>
          </a:p>
        </p:txBody>
      </p:sp>
      <p:sp>
        <p:nvSpPr>
          <p:cNvPr id="18" name="problem-card-3"/>
          <p:cNvSpPr/>
          <p:nvPr/>
        </p:nvSpPr>
        <p:spPr>
          <a:xfrm>
            <a:off x="9075191" y="1600200"/>
            <a:ext cx="2567864" cy="3749040"/>
          </a:xfrm>
          <a:prstGeom prst="roundRect">
            <a:avLst>
              <a:gd name="adj" fmla="val 4273"/>
            </a:avLst>
          </a:prstGeom>
          <a:solidFill>
            <a:schemeClr val="bg2"/>
          </a:solidFill>
          <a:ln w="12700">
            <a:solidFill>
              <a:schemeClr val="bg2"/>
            </a:solidFill>
            <a:prstDash val="solid"/>
          </a:ln>
        </p:spPr>
      </p:sp>
      <p:sp>
        <p:nvSpPr>
          <p:cNvPr id="19" name="problem-3-circle"/>
          <p:cNvSpPr/>
          <p:nvPr/>
        </p:nvSpPr>
        <p:spPr>
          <a:xfrm>
            <a:off x="9395231" y="1920240"/>
            <a:ext cx="777240" cy="777240"/>
          </a:xfrm>
          <a:prstGeom prst="ellipse">
            <a:avLst/>
          </a:prstGeom>
          <a:solidFill>
            <a:schemeClr val="accent2"/>
          </a:solidFill>
          <a:ln w="12700">
            <a:solidFill>
              <a:schemeClr val="accent2"/>
            </a:solidFill>
            <a:prstDash val="solid"/>
          </a:ln>
        </p:spPr>
      </p:sp>
      <p:pic>
        <p:nvPicPr>
          <p:cNvPr id="20" name="problem-3-icon" descr="FaShuffle">    </p:cNvPr>
          <p:cNvPicPr>
            <a:picLocks noChangeAspect="1"/>
          </p:cNvPicPr>
          <p:nvPr/>
        </p:nvPicPr>
        <p:blipFill>
          <a:blip r:embed="rId4"/>
          <a:stretch>
            <a:fillRect/>
          </a:stretch>
        </p:blipFill>
        <p:spPr>
          <a:xfrm>
            <a:off x="9589541" y="2114550"/>
            <a:ext cx="388620" cy="388620"/>
          </a:xfrm>
          <a:prstGeom prst="rect">
            <a:avLst/>
          </a:prstGeom>
        </p:spPr>
      </p:pic>
      <p:sp>
        <p:nvSpPr>
          <p:cNvPr id="21" name="Text 15"/>
          <p:cNvSpPr txBox="1"/>
          <p:nvPr/>
        </p:nvSpPr>
        <p:spPr>
          <a:xfrm>
            <a:off x="9395231" y="2971800"/>
            <a:ext cx="1927784" cy="731520"/>
          </a:xfrm>
          <a:prstGeom prst="rect">
            <a:avLst/>
          </a:prstGeom>
          <a:noFill/>
          <a:ln/>
        </p:spPr>
        <p:txBody>
          <a:bodyPr wrap="square" lIns="0" tIns="0" rIns="0" bIns="0" rtlCol="0" anchor="t"/>
          <a:lstStyle/>
          <a:p>
            <a:pPr indent="0" marL="0">
              <a:buNone/>
            </a:pPr>
            <a:r>
              <a:rPr lang="en-US" sz="2000" b="1" dirty="0">
                <a:solidFill>
                  <a:schemeClr val="tx2"/>
                </a:solidFill>
              </a:rPr>
              <a:t>Different every time</a:t>
            </a:r>
            <a:endParaRPr lang="en-US" sz="2000" dirty="0"/>
          </a:p>
        </p:txBody>
      </p:sp>
      <p:sp>
        <p:nvSpPr>
          <p:cNvPr id="22" name="Text 16"/>
          <p:cNvSpPr txBox="1"/>
          <p:nvPr/>
        </p:nvSpPr>
        <p:spPr>
          <a:xfrm>
            <a:off x="9395231" y="3749040"/>
            <a:ext cx="1927784" cy="1737360"/>
          </a:xfrm>
          <a:prstGeom prst="rect">
            <a:avLst/>
          </a:prstGeom>
          <a:noFill/>
          <a:ln/>
        </p:spPr>
        <p:txBody>
          <a:bodyPr wrap="square" lIns="0" tIns="0" rIns="0" bIns="0" rtlCol="0" anchor="t"/>
          <a:lstStyle/>
          <a:p>
            <a:pPr indent="0" marL="0">
              <a:buNone/>
            </a:pPr>
            <a:r>
              <a:rPr lang="en-US" sz="1500" dirty="0">
                <a:solidFill>
                  <a:schemeClr val="tx1"/>
                </a:solidFill>
              </a:rPr>
              <a:t>Each consultant asks, writes and prices a little differently.</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Meet ArchitectureScope</a:t>
            </a:r>
            <a:endParaRPr lang="en-US" sz="3400" dirty="0"/>
          </a:p>
        </p:txBody>
      </p:sp>
      <p:sp>
        <p:nvSpPr>
          <p:cNvPr id="3" name="Text 1"/>
          <p:cNvSpPr txBox="1"/>
          <p:nvPr/>
        </p:nvSpPr>
        <p:spPr>
          <a:xfrm>
            <a:off x="548640" y="1600200"/>
            <a:ext cx="5394960" cy="1463040"/>
          </a:xfrm>
          <a:prstGeom prst="rect">
            <a:avLst/>
          </a:prstGeom>
          <a:noFill/>
          <a:ln/>
        </p:spPr>
        <p:txBody>
          <a:bodyPr wrap="square" lIns="0" tIns="0" rIns="0" bIns="0" rtlCol="0" anchor="t"/>
          <a:lstStyle/>
          <a:p>
            <a:pPr indent="0" marL="0">
              <a:buNone/>
            </a:pPr>
            <a:r>
              <a:rPr lang="en-US" sz="2200" dirty="0">
                <a:solidFill>
                  <a:schemeClr val="tx2"/>
                </a:solidFill>
              </a:rPr>
              <a:t>One app that guides a HubSpot project step by step and turns what we learn into professional, client-ready documents.</a:t>
            </a:r>
            <a:endParaRPr lang="en-US" sz="2200" dirty="0"/>
          </a:p>
        </p:txBody>
      </p:sp>
      <p:sp>
        <p:nvSpPr>
          <p:cNvPr id="4" name="Text 2"/>
          <p:cNvSpPr txBox="1"/>
          <p:nvPr/>
        </p:nvSpPr>
        <p:spPr>
          <a:xfrm>
            <a:off x="548640" y="3429000"/>
            <a:ext cx="2743200" cy="365760"/>
          </a:xfrm>
          <a:prstGeom prst="rect">
            <a:avLst/>
          </a:prstGeom>
          <a:noFill/>
          <a:ln/>
        </p:spPr>
        <p:txBody>
          <a:bodyPr wrap="square" lIns="0" tIns="0" rIns="0" bIns="0" rtlCol="0" anchor="t"/>
          <a:lstStyle/>
          <a:p>
            <a:pPr indent="0" marL="0">
              <a:buNone/>
            </a:pPr>
            <a:r>
              <a:rPr lang="en-US" sz="1400" b="1" dirty="0">
                <a:solidFill>
                  <a:schemeClr val="accent6"/>
                </a:solidFill>
              </a:rPr>
              <a:t>Built for</a:t>
            </a:r>
            <a:endParaRPr lang="en-US" sz="1400" dirty="0"/>
          </a:p>
        </p:txBody>
      </p:sp>
      <p:sp>
        <p:nvSpPr>
          <p:cNvPr id="5" name="role-0"/>
          <p:cNvSpPr/>
          <p:nvPr/>
        </p:nvSpPr>
        <p:spPr>
          <a:xfrm>
            <a:off x="548640" y="3931920"/>
            <a:ext cx="2514600" cy="594360"/>
          </a:xfrm>
          <a:prstGeom prst="roundRect">
            <a:avLst>
              <a:gd name="adj" fmla="val 49231"/>
            </a:avLst>
          </a:prstGeom>
          <a:solidFill>
            <a:schemeClr val="bg2"/>
          </a:solidFill>
          <a:ln w="12700">
            <a:solidFill>
              <a:srgbClr val="E4E1EE"/>
            </a:solidFill>
            <a:prstDash val="solid"/>
          </a:ln>
        </p:spPr>
      </p:sp>
      <p:pic>
        <p:nvPicPr>
          <p:cNvPr id="6" name="role-icon-0" descr="Solutions architects">    </p:cNvPr>
          <p:cNvPicPr>
            <a:picLocks noChangeAspect="1"/>
          </p:cNvPicPr>
          <p:nvPr/>
        </p:nvPicPr>
        <p:blipFill>
          <a:blip r:embed="rId1"/>
          <a:stretch>
            <a:fillRect/>
          </a:stretch>
        </p:blipFill>
        <p:spPr>
          <a:xfrm>
            <a:off x="731520" y="4087368"/>
            <a:ext cx="274320" cy="274320"/>
          </a:xfrm>
          <a:prstGeom prst="rect">
            <a:avLst/>
          </a:prstGeom>
        </p:spPr>
      </p:pic>
      <p:sp>
        <p:nvSpPr>
          <p:cNvPr id="7" name="Text 4"/>
          <p:cNvSpPr txBox="1"/>
          <p:nvPr/>
        </p:nvSpPr>
        <p:spPr>
          <a:xfrm>
            <a:off x="1097280" y="3931920"/>
            <a:ext cx="1874520" cy="594360"/>
          </a:xfrm>
          <a:prstGeom prst="rect">
            <a:avLst/>
          </a:prstGeom>
          <a:noFill/>
          <a:ln/>
        </p:spPr>
        <p:txBody>
          <a:bodyPr wrap="square" lIns="0" tIns="0" rIns="0" bIns="0" rtlCol="0" anchor="ctr"/>
          <a:lstStyle/>
          <a:p>
            <a:pPr indent="0" marL="0">
              <a:buNone/>
            </a:pPr>
            <a:r>
              <a:rPr lang="en-US" sz="1400" dirty="0">
                <a:solidFill>
                  <a:schemeClr val="tx2"/>
                </a:solidFill>
              </a:rPr>
              <a:t>Solutions architects</a:t>
            </a:r>
            <a:endParaRPr lang="en-US" sz="1400" dirty="0"/>
          </a:p>
        </p:txBody>
      </p:sp>
      <p:sp>
        <p:nvSpPr>
          <p:cNvPr id="8" name="role-1"/>
          <p:cNvSpPr/>
          <p:nvPr/>
        </p:nvSpPr>
        <p:spPr>
          <a:xfrm>
            <a:off x="3246120" y="3931920"/>
            <a:ext cx="2514600" cy="594360"/>
          </a:xfrm>
          <a:prstGeom prst="roundRect">
            <a:avLst>
              <a:gd name="adj" fmla="val 49231"/>
            </a:avLst>
          </a:prstGeom>
          <a:solidFill>
            <a:schemeClr val="bg2"/>
          </a:solidFill>
          <a:ln w="12700">
            <a:solidFill>
              <a:srgbClr val="E4E1EE"/>
            </a:solidFill>
            <a:prstDash val="solid"/>
          </a:ln>
        </p:spPr>
      </p:sp>
      <p:pic>
        <p:nvPicPr>
          <p:cNvPr id="9" name="role-icon-1" descr="Consultants">    </p:cNvPr>
          <p:cNvPicPr>
            <a:picLocks noChangeAspect="1"/>
          </p:cNvPicPr>
          <p:nvPr/>
        </p:nvPicPr>
        <p:blipFill>
          <a:blip r:embed="rId2"/>
          <a:stretch>
            <a:fillRect/>
          </a:stretch>
        </p:blipFill>
        <p:spPr>
          <a:xfrm>
            <a:off x="3429000" y="4087368"/>
            <a:ext cx="274320" cy="274320"/>
          </a:xfrm>
          <a:prstGeom prst="rect">
            <a:avLst/>
          </a:prstGeom>
        </p:spPr>
      </p:pic>
      <p:sp>
        <p:nvSpPr>
          <p:cNvPr id="10" name="Text 6"/>
          <p:cNvSpPr txBox="1"/>
          <p:nvPr/>
        </p:nvSpPr>
        <p:spPr>
          <a:xfrm>
            <a:off x="3794760" y="3931920"/>
            <a:ext cx="1874520" cy="594360"/>
          </a:xfrm>
          <a:prstGeom prst="rect">
            <a:avLst/>
          </a:prstGeom>
          <a:noFill/>
          <a:ln/>
        </p:spPr>
        <p:txBody>
          <a:bodyPr wrap="square" lIns="0" tIns="0" rIns="0" bIns="0" rtlCol="0" anchor="ctr"/>
          <a:lstStyle/>
          <a:p>
            <a:pPr indent="0" marL="0">
              <a:buNone/>
            </a:pPr>
            <a:r>
              <a:rPr lang="en-US" sz="1400" dirty="0">
                <a:solidFill>
                  <a:schemeClr val="tx2"/>
                </a:solidFill>
              </a:rPr>
              <a:t>Consultants</a:t>
            </a:r>
            <a:endParaRPr lang="en-US" sz="1400" dirty="0"/>
          </a:p>
        </p:txBody>
      </p:sp>
      <p:sp>
        <p:nvSpPr>
          <p:cNvPr id="11" name="role-2"/>
          <p:cNvSpPr/>
          <p:nvPr/>
        </p:nvSpPr>
        <p:spPr>
          <a:xfrm>
            <a:off x="548640" y="4709160"/>
            <a:ext cx="2514600" cy="594360"/>
          </a:xfrm>
          <a:prstGeom prst="roundRect">
            <a:avLst>
              <a:gd name="adj" fmla="val 49231"/>
            </a:avLst>
          </a:prstGeom>
          <a:solidFill>
            <a:schemeClr val="bg2"/>
          </a:solidFill>
          <a:ln w="12700">
            <a:solidFill>
              <a:srgbClr val="E4E1EE"/>
            </a:solidFill>
            <a:prstDash val="solid"/>
          </a:ln>
        </p:spPr>
      </p:sp>
      <p:pic>
        <p:nvPicPr>
          <p:cNvPr id="12" name="role-icon-2" descr="Sales">    </p:cNvPr>
          <p:cNvPicPr>
            <a:picLocks noChangeAspect="1"/>
          </p:cNvPicPr>
          <p:nvPr/>
        </p:nvPicPr>
        <p:blipFill>
          <a:blip r:embed="rId3"/>
          <a:stretch>
            <a:fillRect/>
          </a:stretch>
        </p:blipFill>
        <p:spPr>
          <a:xfrm>
            <a:off x="731520" y="4864608"/>
            <a:ext cx="274320" cy="274320"/>
          </a:xfrm>
          <a:prstGeom prst="rect">
            <a:avLst/>
          </a:prstGeom>
        </p:spPr>
      </p:pic>
      <p:sp>
        <p:nvSpPr>
          <p:cNvPr id="13" name="Text 8"/>
          <p:cNvSpPr txBox="1"/>
          <p:nvPr/>
        </p:nvSpPr>
        <p:spPr>
          <a:xfrm>
            <a:off x="1097280" y="4709160"/>
            <a:ext cx="1874520" cy="594360"/>
          </a:xfrm>
          <a:prstGeom prst="rect">
            <a:avLst/>
          </a:prstGeom>
          <a:noFill/>
          <a:ln/>
        </p:spPr>
        <p:txBody>
          <a:bodyPr wrap="square" lIns="0" tIns="0" rIns="0" bIns="0" rtlCol="0" anchor="ctr"/>
          <a:lstStyle/>
          <a:p>
            <a:pPr indent="0" marL="0">
              <a:buNone/>
            </a:pPr>
            <a:r>
              <a:rPr lang="en-US" sz="1400" dirty="0">
                <a:solidFill>
                  <a:schemeClr val="tx2"/>
                </a:solidFill>
              </a:rPr>
              <a:t>Sales</a:t>
            </a:r>
            <a:endParaRPr lang="en-US" sz="1400" dirty="0"/>
          </a:p>
        </p:txBody>
      </p:sp>
      <p:sp>
        <p:nvSpPr>
          <p:cNvPr id="14" name="role-3"/>
          <p:cNvSpPr/>
          <p:nvPr/>
        </p:nvSpPr>
        <p:spPr>
          <a:xfrm>
            <a:off x="3246120" y="4709160"/>
            <a:ext cx="2514600" cy="594360"/>
          </a:xfrm>
          <a:prstGeom prst="roundRect">
            <a:avLst>
              <a:gd name="adj" fmla="val 49231"/>
            </a:avLst>
          </a:prstGeom>
          <a:solidFill>
            <a:schemeClr val="bg2"/>
          </a:solidFill>
          <a:ln w="12700">
            <a:solidFill>
              <a:srgbClr val="E4E1EE"/>
            </a:solidFill>
            <a:prstDash val="solid"/>
          </a:ln>
        </p:spPr>
      </p:sp>
      <p:pic>
        <p:nvPicPr>
          <p:cNvPr id="15" name="role-icon-3" descr="Implementation">    </p:cNvPr>
          <p:cNvPicPr>
            <a:picLocks noChangeAspect="1"/>
          </p:cNvPicPr>
          <p:nvPr/>
        </p:nvPicPr>
        <p:blipFill>
          <a:blip r:embed="rId4"/>
          <a:stretch>
            <a:fillRect/>
          </a:stretch>
        </p:blipFill>
        <p:spPr>
          <a:xfrm>
            <a:off x="3429000" y="4864608"/>
            <a:ext cx="274320" cy="274320"/>
          </a:xfrm>
          <a:prstGeom prst="rect">
            <a:avLst/>
          </a:prstGeom>
        </p:spPr>
      </p:pic>
      <p:sp>
        <p:nvSpPr>
          <p:cNvPr id="16" name="Text 10"/>
          <p:cNvSpPr txBox="1"/>
          <p:nvPr/>
        </p:nvSpPr>
        <p:spPr>
          <a:xfrm>
            <a:off x="3794760" y="4709160"/>
            <a:ext cx="1874520" cy="594360"/>
          </a:xfrm>
          <a:prstGeom prst="rect">
            <a:avLst/>
          </a:prstGeom>
          <a:noFill/>
          <a:ln/>
        </p:spPr>
        <p:txBody>
          <a:bodyPr wrap="square" lIns="0" tIns="0" rIns="0" bIns="0" rtlCol="0" anchor="ctr"/>
          <a:lstStyle/>
          <a:p>
            <a:pPr indent="0" marL="0">
              <a:buNone/>
            </a:pPr>
            <a:r>
              <a:rPr lang="en-US" sz="1400" dirty="0">
                <a:solidFill>
                  <a:schemeClr val="tx2"/>
                </a:solidFill>
              </a:rPr>
              <a:t>Implementation</a:t>
            </a:r>
            <a:endParaRPr lang="en-US" sz="1400" dirty="0"/>
          </a:p>
        </p:txBody>
      </p:sp>
      <p:sp>
        <p:nvSpPr>
          <p:cNvPr id="17" name="stat-card-0"/>
          <p:cNvSpPr/>
          <p:nvPr/>
        </p:nvSpPr>
        <p:spPr>
          <a:xfrm>
            <a:off x="6675120" y="1554480"/>
            <a:ext cx="4967935" cy="1280160"/>
          </a:xfrm>
          <a:prstGeom prst="roundRect">
            <a:avLst>
              <a:gd name="adj" fmla="val 8571"/>
            </a:avLst>
          </a:prstGeom>
          <a:solidFill>
            <a:schemeClr val="bg2"/>
          </a:solidFill>
          <a:ln w="12700">
            <a:solidFill>
              <a:schemeClr val="bg2"/>
            </a:solidFill>
            <a:prstDash val="solid"/>
          </a:ln>
        </p:spPr>
      </p:sp>
      <p:sp>
        <p:nvSpPr>
          <p:cNvPr id="18" name="Text 12"/>
          <p:cNvSpPr txBox="1"/>
          <p:nvPr/>
        </p:nvSpPr>
        <p:spPr>
          <a:xfrm>
            <a:off x="6995160" y="1691640"/>
            <a:ext cx="1371600" cy="1005840"/>
          </a:xfrm>
          <a:prstGeom prst="rect">
            <a:avLst/>
          </a:prstGeom>
          <a:noFill/>
          <a:ln/>
        </p:spPr>
        <p:txBody>
          <a:bodyPr wrap="square" lIns="0" tIns="0" rIns="0" bIns="0" rtlCol="0" anchor="ctr"/>
          <a:lstStyle/>
          <a:p>
            <a:pPr indent="0" marL="0">
              <a:buNone/>
            </a:pPr>
            <a:r>
              <a:rPr lang="en-US" sz="6000" b="1" dirty="0">
                <a:solidFill>
                  <a:schemeClr val="accent1"/>
                </a:solidFill>
              </a:rPr>
              <a:t>11</a:t>
            </a:r>
            <a:endParaRPr lang="en-US" sz="6000" dirty="0"/>
          </a:p>
        </p:txBody>
      </p:sp>
      <p:sp>
        <p:nvSpPr>
          <p:cNvPr id="19" name="Text 13"/>
          <p:cNvSpPr txBox="1"/>
          <p:nvPr/>
        </p:nvSpPr>
        <p:spPr>
          <a:xfrm>
            <a:off x="8412480" y="1691640"/>
            <a:ext cx="3108960" cy="1005840"/>
          </a:xfrm>
          <a:prstGeom prst="rect">
            <a:avLst/>
          </a:prstGeom>
          <a:noFill/>
          <a:ln/>
        </p:spPr>
        <p:txBody>
          <a:bodyPr wrap="square" lIns="0" tIns="0" rIns="0" bIns="0" rtlCol="0" anchor="ctr"/>
          <a:lstStyle/>
          <a:p>
            <a:pPr indent="0" marL="0">
              <a:buNone/>
            </a:pPr>
            <a:r>
              <a:rPr lang="en-US" sz="1800" dirty="0">
                <a:solidFill>
                  <a:schemeClr val="tx1"/>
                </a:solidFill>
              </a:rPr>
              <a:t>tools in one app</a:t>
            </a:r>
            <a:endParaRPr lang="en-US" sz="1800" dirty="0"/>
          </a:p>
        </p:txBody>
      </p:sp>
      <p:sp>
        <p:nvSpPr>
          <p:cNvPr id="20" name="stat-card-1"/>
          <p:cNvSpPr/>
          <p:nvPr/>
        </p:nvSpPr>
        <p:spPr>
          <a:xfrm>
            <a:off x="6675120" y="3063240"/>
            <a:ext cx="4967935" cy="1280160"/>
          </a:xfrm>
          <a:prstGeom prst="roundRect">
            <a:avLst>
              <a:gd name="adj" fmla="val 8571"/>
            </a:avLst>
          </a:prstGeom>
          <a:solidFill>
            <a:schemeClr val="bg2"/>
          </a:solidFill>
          <a:ln w="12700">
            <a:solidFill>
              <a:schemeClr val="bg2"/>
            </a:solidFill>
            <a:prstDash val="solid"/>
          </a:ln>
        </p:spPr>
      </p:sp>
      <p:sp>
        <p:nvSpPr>
          <p:cNvPr id="21" name="Text 15"/>
          <p:cNvSpPr txBox="1"/>
          <p:nvPr/>
        </p:nvSpPr>
        <p:spPr>
          <a:xfrm>
            <a:off x="6995160" y="3200400"/>
            <a:ext cx="1371600" cy="1005840"/>
          </a:xfrm>
          <a:prstGeom prst="rect">
            <a:avLst/>
          </a:prstGeom>
          <a:noFill/>
          <a:ln/>
        </p:spPr>
        <p:txBody>
          <a:bodyPr wrap="square" lIns="0" tIns="0" rIns="0" bIns="0" rtlCol="0" anchor="ctr"/>
          <a:lstStyle/>
          <a:p>
            <a:pPr indent="0" marL="0">
              <a:buNone/>
            </a:pPr>
            <a:r>
              <a:rPr lang="en-US" sz="6000" b="1" dirty="0">
                <a:solidFill>
                  <a:schemeClr val="accent1"/>
                </a:solidFill>
              </a:rPr>
              <a:t>5</a:t>
            </a:r>
            <a:endParaRPr lang="en-US" sz="6000" dirty="0"/>
          </a:p>
        </p:txBody>
      </p:sp>
      <p:sp>
        <p:nvSpPr>
          <p:cNvPr id="22" name="Text 16"/>
          <p:cNvSpPr txBox="1"/>
          <p:nvPr/>
        </p:nvSpPr>
        <p:spPr>
          <a:xfrm>
            <a:off x="8412480" y="3200400"/>
            <a:ext cx="3108960" cy="1005840"/>
          </a:xfrm>
          <a:prstGeom prst="rect">
            <a:avLst/>
          </a:prstGeom>
          <a:noFill/>
          <a:ln/>
        </p:spPr>
        <p:txBody>
          <a:bodyPr wrap="square" lIns="0" tIns="0" rIns="0" bIns="0" rtlCol="0" anchor="ctr"/>
          <a:lstStyle/>
          <a:p>
            <a:pPr indent="0" marL="0">
              <a:buNone/>
            </a:pPr>
            <a:r>
              <a:rPr lang="en-US" sz="1800" dirty="0">
                <a:solidFill>
                  <a:schemeClr val="tx1"/>
                </a:solidFill>
              </a:rPr>
              <a:t>steps, from Discover to Deliver</a:t>
            </a:r>
            <a:endParaRPr lang="en-US" sz="1800" dirty="0"/>
          </a:p>
        </p:txBody>
      </p:sp>
      <p:sp>
        <p:nvSpPr>
          <p:cNvPr id="23" name="stat-card-2"/>
          <p:cNvSpPr/>
          <p:nvPr/>
        </p:nvSpPr>
        <p:spPr>
          <a:xfrm>
            <a:off x="6675120" y="4572000"/>
            <a:ext cx="4967935" cy="1280160"/>
          </a:xfrm>
          <a:prstGeom prst="roundRect">
            <a:avLst>
              <a:gd name="adj" fmla="val 8571"/>
            </a:avLst>
          </a:prstGeom>
          <a:solidFill>
            <a:schemeClr val="bg2"/>
          </a:solidFill>
          <a:ln w="12700">
            <a:solidFill>
              <a:schemeClr val="bg2"/>
            </a:solidFill>
            <a:prstDash val="solid"/>
          </a:ln>
        </p:spPr>
      </p:sp>
      <p:sp>
        <p:nvSpPr>
          <p:cNvPr id="24" name="Text 18"/>
          <p:cNvSpPr txBox="1"/>
          <p:nvPr/>
        </p:nvSpPr>
        <p:spPr>
          <a:xfrm>
            <a:off x="6995160" y="4709160"/>
            <a:ext cx="1371600" cy="1005840"/>
          </a:xfrm>
          <a:prstGeom prst="rect">
            <a:avLst/>
          </a:prstGeom>
          <a:noFill/>
          <a:ln/>
        </p:spPr>
        <p:txBody>
          <a:bodyPr wrap="square" lIns="0" tIns="0" rIns="0" bIns="0" rtlCol="0" anchor="ctr"/>
          <a:lstStyle/>
          <a:p>
            <a:pPr indent="0" marL="0">
              <a:buNone/>
            </a:pPr>
            <a:r>
              <a:rPr lang="en-US" sz="6000" b="1" dirty="0">
                <a:solidFill>
                  <a:schemeClr val="accent2"/>
                </a:solidFill>
              </a:rPr>
              <a:t>0</a:t>
            </a:r>
            <a:endParaRPr lang="en-US" sz="6000" dirty="0"/>
          </a:p>
        </p:txBody>
      </p:sp>
      <p:sp>
        <p:nvSpPr>
          <p:cNvPr id="25" name="Text 19"/>
          <p:cNvSpPr txBox="1"/>
          <p:nvPr/>
        </p:nvSpPr>
        <p:spPr>
          <a:xfrm>
            <a:off x="8412480" y="4709160"/>
            <a:ext cx="3108960" cy="1005840"/>
          </a:xfrm>
          <a:prstGeom prst="rect">
            <a:avLst/>
          </a:prstGeom>
          <a:noFill/>
          <a:ln/>
        </p:spPr>
        <p:txBody>
          <a:bodyPr wrap="square" lIns="0" tIns="0" rIns="0" bIns="0" rtlCol="0" anchor="ctr"/>
          <a:lstStyle/>
          <a:p>
            <a:pPr indent="0" marL="0">
              <a:buNone/>
            </a:pPr>
            <a:r>
              <a:rPr lang="en-US" sz="1800" dirty="0">
                <a:solidFill>
                  <a:schemeClr val="tx1"/>
                </a:solidFill>
              </a:rPr>
              <a:t>changes ever made to a client's HubSpot</a:t>
            </a:r>
            <a:endParaRPr lang="en-US"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One journey, five steps</a:t>
            </a:r>
            <a:endParaRPr lang="en-US" sz="3400" dirty="0"/>
          </a:p>
        </p:txBody>
      </p:sp>
      <p:sp>
        <p:nvSpPr>
          <p:cNvPr id="3" name="journey-line"/>
          <p:cNvSpPr/>
          <p:nvPr/>
        </p:nvSpPr>
        <p:spPr>
          <a:xfrm>
            <a:off x="1658082" y="2514600"/>
            <a:ext cx="8875532" cy="0"/>
          </a:xfrm>
          <a:prstGeom prst="line">
            <a:avLst/>
          </a:prstGeom>
          <a:noFill/>
          <a:ln w="38100">
            <a:solidFill>
              <a:srgbClr val="DED9F2"/>
            </a:solidFill>
            <a:prstDash val="solid"/>
          </a:ln>
        </p:spPr>
      </p:sp>
      <p:sp>
        <p:nvSpPr>
          <p:cNvPr id="4" name="step-0-circle"/>
          <p:cNvSpPr/>
          <p:nvPr/>
        </p:nvSpPr>
        <p:spPr>
          <a:xfrm>
            <a:off x="1109442" y="1965960"/>
            <a:ext cx="1097280" cy="1097280"/>
          </a:xfrm>
          <a:prstGeom prst="ellipse">
            <a:avLst/>
          </a:prstGeom>
          <a:solidFill>
            <a:schemeClr val="accent1"/>
          </a:solidFill>
          <a:ln w="12700">
            <a:solidFill>
              <a:schemeClr val="accent1"/>
            </a:solidFill>
            <a:prstDash val="solid"/>
          </a:ln>
        </p:spPr>
      </p:sp>
      <p:pic>
        <p:nvPicPr>
          <p:cNvPr id="5" name="step-0-icon" descr="FaComments">    </p:cNvPr>
          <p:cNvPicPr>
            <a:picLocks noChangeAspect="1"/>
          </p:cNvPicPr>
          <p:nvPr/>
        </p:nvPicPr>
        <p:blipFill>
          <a:blip r:embed="rId1"/>
          <a:stretch>
            <a:fillRect/>
          </a:stretch>
        </p:blipFill>
        <p:spPr>
          <a:xfrm>
            <a:off x="1383762" y="2240280"/>
            <a:ext cx="548640" cy="548640"/>
          </a:xfrm>
          <a:prstGeom prst="rect">
            <a:avLst/>
          </a:prstGeom>
        </p:spPr>
      </p:pic>
      <p:sp>
        <p:nvSpPr>
          <p:cNvPr id="6" name="Text 3"/>
          <p:cNvSpPr txBox="1"/>
          <p:nvPr/>
        </p:nvSpPr>
        <p:spPr>
          <a:xfrm>
            <a:off x="1109442" y="1417320"/>
            <a:ext cx="1097280" cy="411480"/>
          </a:xfrm>
          <a:prstGeom prst="rect">
            <a:avLst/>
          </a:prstGeom>
          <a:noFill/>
          <a:ln/>
        </p:spPr>
        <p:txBody>
          <a:bodyPr wrap="square" lIns="0" tIns="0" rIns="0" bIns="0" rtlCol="0" anchor="t"/>
          <a:lstStyle/>
          <a:p>
            <a:pPr algn="ctr" indent="0" marL="0">
              <a:buNone/>
            </a:pPr>
            <a:r>
              <a:rPr lang="en-US" sz="1600" b="1" dirty="0">
                <a:solidFill>
                  <a:schemeClr val="accent2"/>
                </a:solidFill>
              </a:rPr>
              <a:t>1</a:t>
            </a:r>
            <a:endParaRPr lang="en-US" sz="1600" dirty="0"/>
          </a:p>
        </p:txBody>
      </p:sp>
      <p:sp>
        <p:nvSpPr>
          <p:cNvPr id="7" name="Text 4"/>
          <p:cNvSpPr txBox="1"/>
          <p:nvPr/>
        </p:nvSpPr>
        <p:spPr>
          <a:xfrm>
            <a:off x="640080" y="3291840"/>
            <a:ext cx="2036003" cy="502920"/>
          </a:xfrm>
          <a:prstGeom prst="rect">
            <a:avLst/>
          </a:prstGeom>
          <a:noFill/>
          <a:ln/>
        </p:spPr>
        <p:txBody>
          <a:bodyPr wrap="square" lIns="0" tIns="0" rIns="0" bIns="0" rtlCol="0" anchor="t"/>
          <a:lstStyle/>
          <a:p>
            <a:pPr algn="ctr" indent="0" marL="0">
              <a:buNone/>
            </a:pPr>
            <a:r>
              <a:rPr lang="en-US" sz="2200" b="1" dirty="0">
                <a:solidFill>
                  <a:schemeClr val="tx2"/>
                </a:solidFill>
              </a:rPr>
              <a:t>Discover</a:t>
            </a:r>
            <a:endParaRPr lang="en-US" sz="2200" dirty="0"/>
          </a:p>
        </p:txBody>
      </p:sp>
      <p:sp>
        <p:nvSpPr>
          <p:cNvPr id="8" name="Text 5"/>
          <p:cNvSpPr txBox="1"/>
          <p:nvPr/>
        </p:nvSpPr>
        <p:spPr>
          <a:xfrm>
            <a:off x="685800" y="3840480"/>
            <a:ext cx="1944563" cy="822960"/>
          </a:xfrm>
          <a:prstGeom prst="rect">
            <a:avLst/>
          </a:prstGeom>
          <a:noFill/>
          <a:ln/>
        </p:spPr>
        <p:txBody>
          <a:bodyPr wrap="square" lIns="0" tIns="0" rIns="0" bIns="0" rtlCol="0" anchor="t"/>
          <a:lstStyle/>
          <a:p>
            <a:pPr algn="ctr" indent="0" marL="0">
              <a:buNone/>
            </a:pPr>
            <a:r>
              <a:rPr lang="en-US" sz="1500" dirty="0">
                <a:solidFill>
                  <a:schemeClr val="tx1"/>
                </a:solidFill>
              </a:rPr>
              <a:t>Run the client call with a guide</a:t>
            </a:r>
            <a:endParaRPr lang="en-US" sz="1500" dirty="0"/>
          </a:p>
        </p:txBody>
      </p:sp>
      <p:sp>
        <p:nvSpPr>
          <p:cNvPr id="9" name="step-1-circle"/>
          <p:cNvSpPr/>
          <p:nvPr/>
        </p:nvSpPr>
        <p:spPr>
          <a:xfrm>
            <a:off x="3328325" y="1965960"/>
            <a:ext cx="1097280" cy="1097280"/>
          </a:xfrm>
          <a:prstGeom prst="ellipse">
            <a:avLst/>
          </a:prstGeom>
          <a:solidFill>
            <a:schemeClr val="accent1"/>
          </a:solidFill>
          <a:ln w="12700">
            <a:solidFill>
              <a:schemeClr val="accent1"/>
            </a:solidFill>
            <a:prstDash val="solid"/>
          </a:ln>
        </p:spPr>
      </p:sp>
      <p:pic>
        <p:nvPicPr>
          <p:cNvPr id="10" name="step-1-icon" descr="FaMagnifyingGlassChart">    </p:cNvPr>
          <p:cNvPicPr>
            <a:picLocks noChangeAspect="1"/>
          </p:cNvPicPr>
          <p:nvPr/>
        </p:nvPicPr>
        <p:blipFill>
          <a:blip r:embed="rId2"/>
          <a:stretch>
            <a:fillRect/>
          </a:stretch>
        </p:blipFill>
        <p:spPr>
          <a:xfrm>
            <a:off x="3602645" y="2240280"/>
            <a:ext cx="548640" cy="548640"/>
          </a:xfrm>
          <a:prstGeom prst="rect">
            <a:avLst/>
          </a:prstGeom>
        </p:spPr>
      </p:pic>
      <p:sp>
        <p:nvSpPr>
          <p:cNvPr id="11" name="Text 7"/>
          <p:cNvSpPr txBox="1"/>
          <p:nvPr/>
        </p:nvSpPr>
        <p:spPr>
          <a:xfrm>
            <a:off x="3328325" y="1417320"/>
            <a:ext cx="1097280" cy="411480"/>
          </a:xfrm>
          <a:prstGeom prst="rect">
            <a:avLst/>
          </a:prstGeom>
          <a:noFill/>
          <a:ln/>
        </p:spPr>
        <p:txBody>
          <a:bodyPr wrap="square" lIns="0" tIns="0" rIns="0" bIns="0" rtlCol="0" anchor="t"/>
          <a:lstStyle/>
          <a:p>
            <a:pPr algn="ctr" indent="0" marL="0">
              <a:buNone/>
            </a:pPr>
            <a:r>
              <a:rPr lang="en-US" sz="1600" b="1" dirty="0">
                <a:solidFill>
                  <a:schemeClr val="accent2"/>
                </a:solidFill>
              </a:rPr>
              <a:t>2</a:t>
            </a:r>
            <a:endParaRPr lang="en-US" sz="1600" dirty="0"/>
          </a:p>
        </p:txBody>
      </p:sp>
      <p:sp>
        <p:nvSpPr>
          <p:cNvPr id="12" name="Text 8"/>
          <p:cNvSpPr txBox="1"/>
          <p:nvPr/>
        </p:nvSpPr>
        <p:spPr>
          <a:xfrm>
            <a:off x="2858963" y="3291840"/>
            <a:ext cx="2036003" cy="502920"/>
          </a:xfrm>
          <a:prstGeom prst="rect">
            <a:avLst/>
          </a:prstGeom>
          <a:noFill/>
          <a:ln/>
        </p:spPr>
        <p:txBody>
          <a:bodyPr wrap="square" lIns="0" tIns="0" rIns="0" bIns="0" rtlCol="0" anchor="t"/>
          <a:lstStyle/>
          <a:p>
            <a:pPr algn="ctr" indent="0" marL="0">
              <a:buNone/>
            </a:pPr>
            <a:r>
              <a:rPr lang="en-US" sz="2200" b="1" dirty="0">
                <a:solidFill>
                  <a:schemeClr val="tx2"/>
                </a:solidFill>
              </a:rPr>
              <a:t>Assess</a:t>
            </a:r>
            <a:endParaRPr lang="en-US" sz="2200" dirty="0"/>
          </a:p>
        </p:txBody>
      </p:sp>
      <p:sp>
        <p:nvSpPr>
          <p:cNvPr id="13" name="Text 9"/>
          <p:cNvSpPr txBox="1"/>
          <p:nvPr/>
        </p:nvSpPr>
        <p:spPr>
          <a:xfrm>
            <a:off x="2904683" y="3840480"/>
            <a:ext cx="1944563" cy="822960"/>
          </a:xfrm>
          <a:prstGeom prst="rect">
            <a:avLst/>
          </a:prstGeom>
          <a:noFill/>
          <a:ln/>
        </p:spPr>
        <p:txBody>
          <a:bodyPr wrap="square" lIns="0" tIns="0" rIns="0" bIns="0" rtlCol="0" anchor="t"/>
          <a:lstStyle/>
          <a:p>
            <a:pPr algn="ctr" indent="0" marL="0">
              <a:buNone/>
            </a:pPr>
            <a:r>
              <a:rPr lang="en-US" sz="1500" dirty="0">
                <a:solidFill>
                  <a:schemeClr val="tx1"/>
                </a:solidFill>
              </a:rPr>
              <a:t>Check the health of their HubSpot</a:t>
            </a:r>
            <a:endParaRPr lang="en-US" sz="1500" dirty="0"/>
          </a:p>
        </p:txBody>
      </p:sp>
      <p:sp>
        <p:nvSpPr>
          <p:cNvPr id="14" name="step-2-circle"/>
          <p:cNvSpPr/>
          <p:nvPr/>
        </p:nvSpPr>
        <p:spPr>
          <a:xfrm>
            <a:off x="5547208" y="1965960"/>
            <a:ext cx="1097280" cy="1097280"/>
          </a:xfrm>
          <a:prstGeom prst="ellipse">
            <a:avLst/>
          </a:prstGeom>
          <a:solidFill>
            <a:schemeClr val="accent1"/>
          </a:solidFill>
          <a:ln w="12700">
            <a:solidFill>
              <a:schemeClr val="accent1"/>
            </a:solidFill>
            <a:prstDash val="solid"/>
          </a:ln>
        </p:spPr>
      </p:sp>
      <p:pic>
        <p:nvPicPr>
          <p:cNvPr id="15" name="step-2-icon" descr="FaDiagramProject">    </p:cNvPr>
          <p:cNvPicPr>
            <a:picLocks noChangeAspect="1"/>
          </p:cNvPicPr>
          <p:nvPr/>
        </p:nvPicPr>
        <p:blipFill>
          <a:blip r:embed="rId3"/>
          <a:stretch>
            <a:fillRect/>
          </a:stretch>
        </p:blipFill>
        <p:spPr>
          <a:xfrm>
            <a:off x="5821528" y="2240280"/>
            <a:ext cx="548640" cy="548640"/>
          </a:xfrm>
          <a:prstGeom prst="rect">
            <a:avLst/>
          </a:prstGeom>
        </p:spPr>
      </p:pic>
      <p:sp>
        <p:nvSpPr>
          <p:cNvPr id="16" name="Text 11"/>
          <p:cNvSpPr txBox="1"/>
          <p:nvPr/>
        </p:nvSpPr>
        <p:spPr>
          <a:xfrm>
            <a:off x="5547208" y="1417320"/>
            <a:ext cx="1097280" cy="411480"/>
          </a:xfrm>
          <a:prstGeom prst="rect">
            <a:avLst/>
          </a:prstGeom>
          <a:noFill/>
          <a:ln/>
        </p:spPr>
        <p:txBody>
          <a:bodyPr wrap="square" lIns="0" tIns="0" rIns="0" bIns="0" rtlCol="0" anchor="t"/>
          <a:lstStyle/>
          <a:p>
            <a:pPr algn="ctr" indent="0" marL="0">
              <a:buNone/>
            </a:pPr>
            <a:r>
              <a:rPr lang="en-US" sz="1600" b="1" dirty="0">
                <a:solidFill>
                  <a:schemeClr val="accent2"/>
                </a:solidFill>
              </a:rPr>
              <a:t>3</a:t>
            </a:r>
            <a:endParaRPr lang="en-US" sz="1600" dirty="0"/>
          </a:p>
        </p:txBody>
      </p:sp>
      <p:sp>
        <p:nvSpPr>
          <p:cNvPr id="17" name="Text 12"/>
          <p:cNvSpPr txBox="1"/>
          <p:nvPr/>
        </p:nvSpPr>
        <p:spPr>
          <a:xfrm>
            <a:off x="5077846" y="3291840"/>
            <a:ext cx="2036003" cy="502920"/>
          </a:xfrm>
          <a:prstGeom prst="rect">
            <a:avLst/>
          </a:prstGeom>
          <a:noFill/>
          <a:ln/>
        </p:spPr>
        <p:txBody>
          <a:bodyPr wrap="square" lIns="0" tIns="0" rIns="0" bIns="0" rtlCol="0" anchor="t"/>
          <a:lstStyle/>
          <a:p>
            <a:pPr algn="ctr" indent="0" marL="0">
              <a:buNone/>
            </a:pPr>
            <a:r>
              <a:rPr lang="en-US" sz="2200" b="1" dirty="0">
                <a:solidFill>
                  <a:schemeClr val="tx2"/>
                </a:solidFill>
              </a:rPr>
              <a:t>Design</a:t>
            </a:r>
            <a:endParaRPr lang="en-US" sz="2200" dirty="0"/>
          </a:p>
        </p:txBody>
      </p:sp>
      <p:sp>
        <p:nvSpPr>
          <p:cNvPr id="18" name="Text 13"/>
          <p:cNvSpPr txBox="1"/>
          <p:nvPr/>
        </p:nvSpPr>
        <p:spPr>
          <a:xfrm>
            <a:off x="5123566" y="3840480"/>
            <a:ext cx="1944563" cy="822960"/>
          </a:xfrm>
          <a:prstGeom prst="rect">
            <a:avLst/>
          </a:prstGeom>
          <a:noFill/>
          <a:ln/>
        </p:spPr>
        <p:txBody>
          <a:bodyPr wrap="square" lIns="0" tIns="0" rIns="0" bIns="0" rtlCol="0" anchor="t"/>
          <a:lstStyle/>
          <a:p>
            <a:pPr algn="ctr" indent="0" marL="0">
              <a:buNone/>
            </a:pPr>
            <a:r>
              <a:rPr lang="en-US" sz="1500" dirty="0">
                <a:solidFill>
                  <a:schemeClr val="tx1"/>
                </a:solidFill>
              </a:rPr>
              <a:t>Plan the right architecture</a:t>
            </a:r>
            <a:endParaRPr lang="en-US" sz="1500" dirty="0"/>
          </a:p>
        </p:txBody>
      </p:sp>
      <p:sp>
        <p:nvSpPr>
          <p:cNvPr id="19" name="step-3-circle"/>
          <p:cNvSpPr/>
          <p:nvPr/>
        </p:nvSpPr>
        <p:spPr>
          <a:xfrm>
            <a:off x="7766091" y="1965960"/>
            <a:ext cx="1097280" cy="1097280"/>
          </a:xfrm>
          <a:prstGeom prst="ellipse">
            <a:avLst/>
          </a:prstGeom>
          <a:solidFill>
            <a:schemeClr val="accent1"/>
          </a:solidFill>
          <a:ln w="12700">
            <a:solidFill>
              <a:schemeClr val="accent1"/>
            </a:solidFill>
            <a:prstDash val="solid"/>
          </a:ln>
        </p:spPr>
      </p:sp>
      <p:pic>
        <p:nvPicPr>
          <p:cNvPr id="20" name="step-3-icon" descr="FaFileSignature">    </p:cNvPr>
          <p:cNvPicPr>
            <a:picLocks noChangeAspect="1"/>
          </p:cNvPicPr>
          <p:nvPr/>
        </p:nvPicPr>
        <p:blipFill>
          <a:blip r:embed="rId4"/>
          <a:stretch>
            <a:fillRect/>
          </a:stretch>
        </p:blipFill>
        <p:spPr>
          <a:xfrm>
            <a:off x="8040411" y="2240280"/>
            <a:ext cx="548640" cy="548640"/>
          </a:xfrm>
          <a:prstGeom prst="rect">
            <a:avLst/>
          </a:prstGeom>
        </p:spPr>
      </p:pic>
      <p:sp>
        <p:nvSpPr>
          <p:cNvPr id="21" name="Text 15"/>
          <p:cNvSpPr txBox="1"/>
          <p:nvPr/>
        </p:nvSpPr>
        <p:spPr>
          <a:xfrm>
            <a:off x="7766091" y="1417320"/>
            <a:ext cx="1097280" cy="411480"/>
          </a:xfrm>
          <a:prstGeom prst="rect">
            <a:avLst/>
          </a:prstGeom>
          <a:noFill/>
          <a:ln/>
        </p:spPr>
        <p:txBody>
          <a:bodyPr wrap="square" lIns="0" tIns="0" rIns="0" bIns="0" rtlCol="0" anchor="t"/>
          <a:lstStyle/>
          <a:p>
            <a:pPr algn="ctr" indent="0" marL="0">
              <a:buNone/>
            </a:pPr>
            <a:r>
              <a:rPr lang="en-US" sz="1600" b="1" dirty="0">
                <a:solidFill>
                  <a:schemeClr val="accent2"/>
                </a:solidFill>
              </a:rPr>
              <a:t>4</a:t>
            </a:r>
            <a:endParaRPr lang="en-US" sz="1600" dirty="0"/>
          </a:p>
        </p:txBody>
      </p:sp>
      <p:sp>
        <p:nvSpPr>
          <p:cNvPr id="22" name="Text 16"/>
          <p:cNvSpPr txBox="1"/>
          <p:nvPr/>
        </p:nvSpPr>
        <p:spPr>
          <a:xfrm>
            <a:off x="7296729" y="3291840"/>
            <a:ext cx="2036003" cy="502920"/>
          </a:xfrm>
          <a:prstGeom prst="rect">
            <a:avLst/>
          </a:prstGeom>
          <a:noFill/>
          <a:ln/>
        </p:spPr>
        <p:txBody>
          <a:bodyPr wrap="square" lIns="0" tIns="0" rIns="0" bIns="0" rtlCol="0" anchor="t"/>
          <a:lstStyle/>
          <a:p>
            <a:pPr algn="ctr" indent="0" marL="0">
              <a:buNone/>
            </a:pPr>
            <a:r>
              <a:rPr lang="en-US" sz="2200" b="1" dirty="0">
                <a:solidFill>
                  <a:schemeClr val="tx2"/>
                </a:solidFill>
              </a:rPr>
              <a:t>Propose</a:t>
            </a:r>
            <a:endParaRPr lang="en-US" sz="2200" dirty="0"/>
          </a:p>
        </p:txBody>
      </p:sp>
      <p:sp>
        <p:nvSpPr>
          <p:cNvPr id="23" name="Text 17"/>
          <p:cNvSpPr txBox="1"/>
          <p:nvPr/>
        </p:nvSpPr>
        <p:spPr>
          <a:xfrm>
            <a:off x="7342449" y="3840480"/>
            <a:ext cx="1944563" cy="822960"/>
          </a:xfrm>
          <a:prstGeom prst="rect">
            <a:avLst/>
          </a:prstGeom>
          <a:noFill/>
          <a:ln/>
        </p:spPr>
        <p:txBody>
          <a:bodyPr wrap="square" lIns="0" tIns="0" rIns="0" bIns="0" rtlCol="0" anchor="t"/>
          <a:lstStyle/>
          <a:p>
            <a:pPr algn="ctr" indent="0" marL="0">
              <a:buNone/>
            </a:pPr>
            <a:r>
              <a:rPr lang="en-US" sz="1500" dirty="0">
                <a:solidFill>
                  <a:schemeClr val="tx1"/>
                </a:solidFill>
              </a:rPr>
              <a:t>Build the proposal and scope</a:t>
            </a:r>
            <a:endParaRPr lang="en-US" sz="1500" dirty="0"/>
          </a:p>
        </p:txBody>
      </p:sp>
      <p:sp>
        <p:nvSpPr>
          <p:cNvPr id="24" name="step-4-circle"/>
          <p:cNvSpPr/>
          <p:nvPr/>
        </p:nvSpPr>
        <p:spPr>
          <a:xfrm>
            <a:off x="9984974" y="1965960"/>
            <a:ext cx="1097280" cy="1097280"/>
          </a:xfrm>
          <a:prstGeom prst="ellipse">
            <a:avLst/>
          </a:prstGeom>
          <a:solidFill>
            <a:schemeClr val="accent1"/>
          </a:solidFill>
          <a:ln w="12700">
            <a:solidFill>
              <a:schemeClr val="accent1"/>
            </a:solidFill>
            <a:prstDash val="solid"/>
          </a:ln>
        </p:spPr>
      </p:sp>
      <p:pic>
        <p:nvPicPr>
          <p:cNvPr id="25" name="step-4-icon" descr="FaListCheck">    </p:cNvPr>
          <p:cNvPicPr>
            <a:picLocks noChangeAspect="1"/>
          </p:cNvPicPr>
          <p:nvPr/>
        </p:nvPicPr>
        <p:blipFill>
          <a:blip r:embed="rId5"/>
          <a:stretch>
            <a:fillRect/>
          </a:stretch>
        </p:blipFill>
        <p:spPr>
          <a:xfrm>
            <a:off x="10259294" y="2240280"/>
            <a:ext cx="548640" cy="548640"/>
          </a:xfrm>
          <a:prstGeom prst="rect">
            <a:avLst/>
          </a:prstGeom>
        </p:spPr>
      </p:pic>
      <p:sp>
        <p:nvSpPr>
          <p:cNvPr id="26" name="Text 19"/>
          <p:cNvSpPr txBox="1"/>
          <p:nvPr/>
        </p:nvSpPr>
        <p:spPr>
          <a:xfrm>
            <a:off x="9984974" y="1417320"/>
            <a:ext cx="1097280" cy="411480"/>
          </a:xfrm>
          <a:prstGeom prst="rect">
            <a:avLst/>
          </a:prstGeom>
          <a:noFill/>
          <a:ln/>
        </p:spPr>
        <p:txBody>
          <a:bodyPr wrap="square" lIns="0" tIns="0" rIns="0" bIns="0" rtlCol="0" anchor="t"/>
          <a:lstStyle/>
          <a:p>
            <a:pPr algn="ctr" indent="0" marL="0">
              <a:buNone/>
            </a:pPr>
            <a:r>
              <a:rPr lang="en-US" sz="1600" b="1" dirty="0">
                <a:solidFill>
                  <a:schemeClr val="accent2"/>
                </a:solidFill>
              </a:rPr>
              <a:t>5</a:t>
            </a:r>
            <a:endParaRPr lang="en-US" sz="1600" dirty="0"/>
          </a:p>
        </p:txBody>
      </p:sp>
      <p:sp>
        <p:nvSpPr>
          <p:cNvPr id="27" name="Text 20"/>
          <p:cNvSpPr txBox="1"/>
          <p:nvPr/>
        </p:nvSpPr>
        <p:spPr>
          <a:xfrm>
            <a:off x="9515612" y="3291840"/>
            <a:ext cx="2036003" cy="502920"/>
          </a:xfrm>
          <a:prstGeom prst="rect">
            <a:avLst/>
          </a:prstGeom>
          <a:noFill/>
          <a:ln/>
        </p:spPr>
        <p:txBody>
          <a:bodyPr wrap="square" lIns="0" tIns="0" rIns="0" bIns="0" rtlCol="0" anchor="t"/>
          <a:lstStyle/>
          <a:p>
            <a:pPr algn="ctr" indent="0" marL="0">
              <a:buNone/>
            </a:pPr>
            <a:r>
              <a:rPr lang="en-US" sz="2200" b="1" dirty="0">
                <a:solidFill>
                  <a:schemeClr val="tx2"/>
                </a:solidFill>
              </a:rPr>
              <a:t>Deliver</a:t>
            </a:r>
            <a:endParaRPr lang="en-US" sz="2200" dirty="0"/>
          </a:p>
        </p:txBody>
      </p:sp>
      <p:sp>
        <p:nvSpPr>
          <p:cNvPr id="28" name="Text 21"/>
          <p:cNvSpPr txBox="1"/>
          <p:nvPr/>
        </p:nvSpPr>
        <p:spPr>
          <a:xfrm>
            <a:off x="9561332" y="3840480"/>
            <a:ext cx="1944563" cy="822960"/>
          </a:xfrm>
          <a:prstGeom prst="rect">
            <a:avLst/>
          </a:prstGeom>
          <a:noFill/>
          <a:ln/>
        </p:spPr>
        <p:txBody>
          <a:bodyPr wrap="square" lIns="0" tIns="0" rIns="0" bIns="0" rtlCol="0" anchor="t"/>
          <a:lstStyle/>
          <a:p>
            <a:pPr algn="ctr" indent="0" marL="0">
              <a:buNone/>
            </a:pPr>
            <a:r>
              <a:rPr lang="en-US" sz="1500" dirty="0">
                <a:solidFill>
                  <a:schemeClr val="tx1"/>
                </a:solidFill>
              </a:rPr>
              <a:t>Test, hand over, keep it all</a:t>
            </a:r>
            <a:endParaRPr lang="en-US" sz="1500" dirty="0"/>
          </a:p>
        </p:txBody>
      </p:sp>
      <p:sp>
        <p:nvSpPr>
          <p:cNvPr id="29" name="journey-callout"/>
          <p:cNvSpPr/>
          <p:nvPr/>
        </p:nvSpPr>
        <p:spPr>
          <a:xfrm>
            <a:off x="548640" y="5074920"/>
            <a:ext cx="11094415" cy="868680"/>
          </a:xfrm>
          <a:prstGeom prst="roundRect">
            <a:avLst>
              <a:gd name="adj" fmla="val 12632"/>
            </a:avLst>
          </a:prstGeom>
          <a:solidFill>
            <a:schemeClr val="accent4"/>
          </a:solidFill>
          <a:ln w="12700">
            <a:solidFill>
              <a:schemeClr val="accent4"/>
            </a:solidFill>
            <a:prstDash val="solid"/>
          </a:ln>
        </p:spPr>
      </p:sp>
      <p:sp>
        <p:nvSpPr>
          <p:cNvPr id="30" name="Text 23"/>
          <p:cNvSpPr txBox="1"/>
          <p:nvPr/>
        </p:nvSpPr>
        <p:spPr>
          <a:xfrm>
            <a:off x="868680" y="5074920"/>
            <a:ext cx="10454335" cy="868680"/>
          </a:xfrm>
          <a:prstGeom prst="rect">
            <a:avLst/>
          </a:prstGeom>
          <a:noFill/>
          <a:ln/>
        </p:spPr>
        <p:txBody>
          <a:bodyPr wrap="square" lIns="0" tIns="0" rIns="0" bIns="0" rtlCol="0" anchor="ctr"/>
          <a:lstStyle/>
          <a:p>
            <a:pPr indent="0" marL="0">
              <a:buNone/>
            </a:pPr>
            <a:r>
              <a:rPr lang="en-US" sz="1600" dirty="0">
                <a:solidFill>
                  <a:schemeClr val="tx2"/>
                </a:solidFill>
              </a:rPr>
              <a:t>Each step feeds the next: what you capture on the call flows into the audit, the design and the proposal.</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1 · Discover: a guide for the client call</a:t>
            </a:r>
            <a:endParaRPr lang="en-US" sz="3400" dirty="0"/>
          </a:p>
        </p:txBody>
      </p:sp>
      <p:sp>
        <p:nvSpPr>
          <p:cNvPr id="3" name="discover-0-circle"/>
          <p:cNvSpPr/>
          <p:nvPr/>
        </p:nvSpPr>
        <p:spPr>
          <a:xfrm>
            <a:off x="548640" y="1600200"/>
            <a:ext cx="777240" cy="777240"/>
          </a:xfrm>
          <a:prstGeom prst="ellipse">
            <a:avLst/>
          </a:prstGeom>
          <a:solidFill>
            <a:schemeClr val="accent1"/>
          </a:solidFill>
          <a:ln w="12700">
            <a:solidFill>
              <a:schemeClr val="accent1"/>
            </a:solidFill>
            <a:prstDash val="solid"/>
          </a:ln>
        </p:spPr>
      </p:sp>
      <p:pic>
        <p:nvPicPr>
          <p:cNvPr id="4" name="discover-0-icon" descr="FaListUl">    </p:cNvPr>
          <p:cNvPicPr>
            <a:picLocks noChangeAspect="1"/>
          </p:cNvPicPr>
          <p:nvPr/>
        </p:nvPicPr>
        <p:blipFill>
          <a:blip r:embed="rId1"/>
          <a:stretch>
            <a:fillRect/>
          </a:stretch>
        </p:blipFill>
        <p:spPr>
          <a:xfrm>
            <a:off x="742950" y="1794510"/>
            <a:ext cx="388620" cy="388620"/>
          </a:xfrm>
          <a:prstGeom prst="rect">
            <a:avLst/>
          </a:prstGeom>
        </p:spPr>
      </p:pic>
      <p:sp>
        <p:nvSpPr>
          <p:cNvPr id="5" name="Text 2"/>
          <p:cNvSpPr txBox="1"/>
          <p:nvPr/>
        </p:nvSpPr>
        <p:spPr>
          <a:xfrm>
            <a:off x="1600200" y="1581912"/>
            <a:ext cx="4754880" cy="411480"/>
          </a:xfrm>
          <a:prstGeom prst="rect">
            <a:avLst/>
          </a:prstGeom>
          <a:noFill/>
          <a:ln/>
        </p:spPr>
        <p:txBody>
          <a:bodyPr wrap="square" lIns="0" tIns="0" rIns="0" bIns="0" rtlCol="0" anchor="t"/>
          <a:lstStyle/>
          <a:p>
            <a:pPr indent="0" marL="0">
              <a:buNone/>
            </a:pPr>
            <a:r>
              <a:rPr lang="en-US" sz="2000" b="1" dirty="0">
                <a:solidFill>
                  <a:schemeClr val="tx2"/>
                </a:solidFill>
              </a:rPr>
              <a:t>Guided questions</a:t>
            </a:r>
            <a:endParaRPr lang="en-US" sz="2000" dirty="0"/>
          </a:p>
        </p:txBody>
      </p:sp>
      <p:sp>
        <p:nvSpPr>
          <p:cNvPr id="6" name="Text 3"/>
          <p:cNvSpPr txBox="1"/>
          <p:nvPr/>
        </p:nvSpPr>
        <p:spPr>
          <a:xfrm>
            <a:off x="1600200" y="2011680"/>
            <a:ext cx="4754880" cy="822960"/>
          </a:xfrm>
          <a:prstGeom prst="rect">
            <a:avLst/>
          </a:prstGeom>
          <a:noFill/>
          <a:ln/>
        </p:spPr>
        <p:txBody>
          <a:bodyPr wrap="square" lIns="0" tIns="0" rIns="0" bIns="0" rtlCol="0" anchor="t"/>
          <a:lstStyle/>
          <a:p>
            <a:pPr indent="0" marL="0">
              <a:buNone/>
            </a:pPr>
            <a:r>
              <a:rPr lang="en-US" sz="1500" dirty="0">
                <a:solidFill>
                  <a:schemeClr val="tx1"/>
                </a:solidFill>
              </a:rPr>
              <a:t>Goals, data, processes and solution needs, with the common answers as quick picks.</a:t>
            </a:r>
            <a:endParaRPr lang="en-US" sz="1500" dirty="0"/>
          </a:p>
        </p:txBody>
      </p:sp>
      <p:sp>
        <p:nvSpPr>
          <p:cNvPr id="7" name="discover-1-circle"/>
          <p:cNvSpPr/>
          <p:nvPr/>
        </p:nvSpPr>
        <p:spPr>
          <a:xfrm>
            <a:off x="548640" y="2971800"/>
            <a:ext cx="777240" cy="777240"/>
          </a:xfrm>
          <a:prstGeom prst="ellipse">
            <a:avLst/>
          </a:prstGeom>
          <a:solidFill>
            <a:schemeClr val="accent1"/>
          </a:solidFill>
          <a:ln w="12700">
            <a:solidFill>
              <a:schemeClr val="accent1"/>
            </a:solidFill>
            <a:prstDash val="solid"/>
          </a:ln>
        </p:spPr>
      </p:sp>
      <p:pic>
        <p:nvPicPr>
          <p:cNvPr id="8" name="discover-1-icon" descr="FaFlag">    </p:cNvPr>
          <p:cNvPicPr>
            <a:picLocks noChangeAspect="1"/>
          </p:cNvPicPr>
          <p:nvPr/>
        </p:nvPicPr>
        <p:blipFill>
          <a:blip r:embed="rId2"/>
          <a:stretch>
            <a:fillRect/>
          </a:stretch>
        </p:blipFill>
        <p:spPr>
          <a:xfrm>
            <a:off x="742950" y="3166110"/>
            <a:ext cx="388620" cy="388620"/>
          </a:xfrm>
          <a:prstGeom prst="rect">
            <a:avLst/>
          </a:prstGeom>
        </p:spPr>
      </p:pic>
      <p:sp>
        <p:nvSpPr>
          <p:cNvPr id="9" name="Text 5"/>
          <p:cNvSpPr txBox="1"/>
          <p:nvPr/>
        </p:nvSpPr>
        <p:spPr>
          <a:xfrm>
            <a:off x="1600200" y="2953512"/>
            <a:ext cx="4754880" cy="411480"/>
          </a:xfrm>
          <a:prstGeom prst="rect">
            <a:avLst/>
          </a:prstGeom>
          <a:noFill/>
          <a:ln/>
        </p:spPr>
        <p:txBody>
          <a:bodyPr wrap="square" lIns="0" tIns="0" rIns="0" bIns="0" rtlCol="0" anchor="t"/>
          <a:lstStyle/>
          <a:p>
            <a:pPr indent="0" marL="0">
              <a:buNone/>
            </a:pPr>
            <a:r>
              <a:rPr lang="en-US" sz="2000" b="1" dirty="0">
                <a:solidFill>
                  <a:schemeClr val="tx2"/>
                </a:solidFill>
              </a:rPr>
              <a:t>Flag for follow-up</a:t>
            </a:r>
            <a:endParaRPr lang="en-US" sz="2000" dirty="0"/>
          </a:p>
        </p:txBody>
      </p:sp>
      <p:sp>
        <p:nvSpPr>
          <p:cNvPr id="10" name="Text 6"/>
          <p:cNvSpPr txBox="1"/>
          <p:nvPr/>
        </p:nvSpPr>
        <p:spPr>
          <a:xfrm>
            <a:off x="1600200" y="3383280"/>
            <a:ext cx="4754880" cy="822960"/>
          </a:xfrm>
          <a:prstGeom prst="rect">
            <a:avLst/>
          </a:prstGeom>
          <a:noFill/>
          <a:ln/>
        </p:spPr>
        <p:txBody>
          <a:bodyPr wrap="square" lIns="0" tIns="0" rIns="0" bIns="0" rtlCol="0" anchor="t"/>
          <a:lstStyle/>
          <a:p>
            <a:pPr indent="0" marL="0">
              <a:buNone/>
            </a:pPr>
            <a:r>
              <a:rPr lang="en-US" sz="1500" dirty="0">
                <a:solidFill>
                  <a:schemeClr val="tx1"/>
                </a:solidFill>
              </a:rPr>
              <a:t>Mark anything you need to revisit, so nothing is forgotten after the call.</a:t>
            </a:r>
            <a:endParaRPr lang="en-US" sz="1500" dirty="0"/>
          </a:p>
        </p:txBody>
      </p:sp>
      <p:sp>
        <p:nvSpPr>
          <p:cNvPr id="11" name="discover-2-circle"/>
          <p:cNvSpPr/>
          <p:nvPr/>
        </p:nvSpPr>
        <p:spPr>
          <a:xfrm>
            <a:off x="548640" y="4343400"/>
            <a:ext cx="777240" cy="777240"/>
          </a:xfrm>
          <a:prstGeom prst="ellipse">
            <a:avLst/>
          </a:prstGeom>
          <a:solidFill>
            <a:schemeClr val="accent1"/>
          </a:solidFill>
          <a:ln w="12700">
            <a:solidFill>
              <a:schemeClr val="accent1"/>
            </a:solidFill>
            <a:prstDash val="solid"/>
          </a:ln>
        </p:spPr>
      </p:sp>
      <p:pic>
        <p:nvPicPr>
          <p:cNvPr id="12" name="discover-2-icon" descr="FaWandMagicSparkles">    </p:cNvPr>
          <p:cNvPicPr>
            <a:picLocks noChangeAspect="1"/>
          </p:cNvPicPr>
          <p:nvPr/>
        </p:nvPicPr>
        <p:blipFill>
          <a:blip r:embed="rId3"/>
          <a:stretch>
            <a:fillRect/>
          </a:stretch>
        </p:blipFill>
        <p:spPr>
          <a:xfrm>
            <a:off x="742950" y="4537710"/>
            <a:ext cx="388620" cy="388620"/>
          </a:xfrm>
          <a:prstGeom prst="rect">
            <a:avLst/>
          </a:prstGeom>
        </p:spPr>
      </p:pic>
      <p:sp>
        <p:nvSpPr>
          <p:cNvPr id="13" name="Text 8"/>
          <p:cNvSpPr txBox="1"/>
          <p:nvPr/>
        </p:nvSpPr>
        <p:spPr>
          <a:xfrm>
            <a:off x="1600200" y="4325112"/>
            <a:ext cx="4754880" cy="411480"/>
          </a:xfrm>
          <a:prstGeom prst="rect">
            <a:avLst/>
          </a:prstGeom>
          <a:noFill/>
          <a:ln/>
        </p:spPr>
        <p:txBody>
          <a:bodyPr wrap="square" lIns="0" tIns="0" rIns="0" bIns="0" rtlCol="0" anchor="t"/>
          <a:lstStyle/>
          <a:p>
            <a:pPr indent="0" marL="0">
              <a:buNone/>
            </a:pPr>
            <a:r>
              <a:rPr lang="en-US" sz="2000" b="1" dirty="0">
                <a:solidFill>
                  <a:schemeClr val="tx2"/>
                </a:solidFill>
              </a:rPr>
              <a:t>Clean documents in one click</a:t>
            </a:r>
            <a:endParaRPr lang="en-US" sz="2000" dirty="0"/>
          </a:p>
        </p:txBody>
      </p:sp>
      <p:sp>
        <p:nvSpPr>
          <p:cNvPr id="14" name="Text 9"/>
          <p:cNvSpPr txBox="1"/>
          <p:nvPr/>
        </p:nvSpPr>
        <p:spPr>
          <a:xfrm>
            <a:off x="1600200" y="4754880"/>
            <a:ext cx="4754880" cy="822960"/>
          </a:xfrm>
          <a:prstGeom prst="rect">
            <a:avLst/>
          </a:prstGeom>
          <a:noFill/>
          <a:ln/>
        </p:spPr>
        <p:txBody>
          <a:bodyPr wrap="square" lIns="0" tIns="0" rIns="0" bIns="0" rtlCol="0" anchor="t"/>
          <a:lstStyle/>
          <a:p>
            <a:pPr indent="0" marL="0">
              <a:buNone/>
            </a:pPr>
            <a:r>
              <a:rPr lang="en-US" sz="1500" dirty="0">
                <a:solidFill>
                  <a:schemeClr val="tx1"/>
                </a:solidFill>
              </a:rPr>
              <a:t>AI turns rough notes into a business analysis and a plain-language explainer for the client.</a:t>
            </a:r>
            <a:endParaRPr lang="en-US" sz="1500" dirty="0"/>
          </a:p>
        </p:txBody>
      </p:sp>
      <p:sp>
        <p:nvSpPr>
          <p:cNvPr id="15" name="mock-question"/>
          <p:cNvSpPr/>
          <p:nvPr/>
        </p:nvSpPr>
        <p:spPr>
          <a:xfrm>
            <a:off x="6720840" y="1508760"/>
            <a:ext cx="4922215" cy="4343400"/>
          </a:xfrm>
          <a:prstGeom prst="roundRect">
            <a:avLst>
              <a:gd name="adj" fmla="val 2526"/>
            </a:avLst>
          </a:prstGeom>
          <a:solidFill>
            <a:schemeClr val="bg2"/>
          </a:solidFill>
          <a:ln w="12700">
            <a:solidFill>
              <a:schemeClr val="bg2"/>
            </a:solidFill>
            <a:prstDash val="solid"/>
          </a:ln>
        </p:spPr>
      </p:sp>
      <p:sp>
        <p:nvSpPr>
          <p:cNvPr id="16" name="Text 11"/>
          <p:cNvSpPr txBox="1"/>
          <p:nvPr/>
        </p:nvSpPr>
        <p:spPr>
          <a:xfrm>
            <a:off x="7086600" y="1783080"/>
            <a:ext cx="2743200"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DATA</a:t>
            </a:r>
            <a:endParaRPr lang="en-US" sz="1100" dirty="0"/>
          </a:p>
        </p:txBody>
      </p:sp>
      <p:sp>
        <p:nvSpPr>
          <p:cNvPr id="17" name="Text 12"/>
          <p:cNvSpPr txBox="1"/>
          <p:nvPr/>
        </p:nvSpPr>
        <p:spPr>
          <a:xfrm>
            <a:off x="7086600" y="2103120"/>
            <a:ext cx="4190695" cy="457200"/>
          </a:xfrm>
          <a:prstGeom prst="rect">
            <a:avLst/>
          </a:prstGeom>
          <a:noFill/>
          <a:ln/>
        </p:spPr>
        <p:txBody>
          <a:bodyPr wrap="square" lIns="0" tIns="0" rIns="0" bIns="0" rtlCol="0" anchor="t"/>
          <a:lstStyle/>
          <a:p>
            <a:pPr indent="0" marL="0">
              <a:buNone/>
            </a:pPr>
            <a:r>
              <a:rPr lang="en-US" sz="1800" b="1" dirty="0">
                <a:solidFill>
                  <a:schemeClr val="tx2"/>
                </a:solidFill>
              </a:rPr>
              <a:t>Where are their customers located?</a:t>
            </a:r>
            <a:endParaRPr lang="en-US" sz="1800" dirty="0"/>
          </a:p>
        </p:txBody>
      </p:sp>
      <p:sp>
        <p:nvSpPr>
          <p:cNvPr id="18" name="chip-United States"/>
          <p:cNvSpPr/>
          <p:nvPr/>
        </p:nvSpPr>
        <p:spPr>
          <a:xfrm>
            <a:off x="7086600" y="2743200"/>
            <a:ext cx="1504188" cy="411480"/>
          </a:xfrm>
          <a:prstGeom prst="roundRect">
            <a:avLst>
              <a:gd name="adj" fmla="val 48889"/>
            </a:avLst>
          </a:prstGeom>
          <a:solidFill>
            <a:schemeClr val="bg1"/>
          </a:solidFill>
          <a:ln w="12700">
            <a:solidFill>
              <a:srgbClr val="E4E1EE"/>
            </a:solidFill>
            <a:prstDash val="solid"/>
          </a:ln>
        </p:spPr>
      </p:sp>
      <p:sp>
        <p:nvSpPr>
          <p:cNvPr id="19" name="Text 14"/>
          <p:cNvSpPr txBox="1"/>
          <p:nvPr/>
        </p:nvSpPr>
        <p:spPr>
          <a:xfrm>
            <a:off x="7086600" y="2743200"/>
            <a:ext cx="1504188" cy="411480"/>
          </a:xfrm>
          <a:prstGeom prst="rect">
            <a:avLst/>
          </a:prstGeom>
          <a:noFill/>
          <a:ln/>
        </p:spPr>
        <p:txBody>
          <a:bodyPr wrap="square" lIns="0" tIns="0" rIns="0" bIns="0" rtlCol="0" anchor="ctr"/>
          <a:lstStyle/>
          <a:p>
            <a:pPr algn="ctr" indent="0" marL="0">
              <a:buNone/>
            </a:pPr>
            <a:r>
              <a:rPr lang="en-US" sz="1300" dirty="0">
                <a:solidFill>
                  <a:schemeClr val="tx1"/>
                </a:solidFill>
              </a:rPr>
              <a:t>United States</a:t>
            </a:r>
            <a:endParaRPr lang="en-US" sz="1300" dirty="0"/>
          </a:p>
        </p:txBody>
      </p:sp>
      <p:sp>
        <p:nvSpPr>
          <p:cNvPr id="20" name="chip-EU / UK"/>
          <p:cNvSpPr/>
          <p:nvPr/>
        </p:nvSpPr>
        <p:spPr>
          <a:xfrm>
            <a:off x="8727948" y="2743200"/>
            <a:ext cx="928116" cy="411480"/>
          </a:xfrm>
          <a:prstGeom prst="roundRect">
            <a:avLst>
              <a:gd name="adj" fmla="val 48889"/>
            </a:avLst>
          </a:prstGeom>
          <a:solidFill>
            <a:schemeClr val="accent1"/>
          </a:solidFill>
          <a:ln w="12700">
            <a:solidFill>
              <a:srgbClr val="3D2E7C"/>
            </a:solidFill>
            <a:prstDash val="solid"/>
          </a:ln>
        </p:spPr>
      </p:sp>
      <p:sp>
        <p:nvSpPr>
          <p:cNvPr id="21" name="Text 16"/>
          <p:cNvSpPr txBox="1"/>
          <p:nvPr/>
        </p:nvSpPr>
        <p:spPr>
          <a:xfrm>
            <a:off x="8727948" y="2743200"/>
            <a:ext cx="928116" cy="411480"/>
          </a:xfrm>
          <a:prstGeom prst="rect">
            <a:avLst/>
          </a:prstGeom>
          <a:noFill/>
          <a:ln/>
        </p:spPr>
        <p:txBody>
          <a:bodyPr wrap="square" lIns="0" tIns="0" rIns="0" bIns="0" rtlCol="0" anchor="ctr"/>
          <a:lstStyle/>
          <a:p>
            <a:pPr algn="ctr" indent="0" marL="0">
              <a:buNone/>
            </a:pPr>
            <a:r>
              <a:rPr lang="en-US" sz="1300" dirty="0">
                <a:solidFill>
                  <a:schemeClr val="bg1"/>
                </a:solidFill>
              </a:rPr>
              <a:t>EU / UK</a:t>
            </a:r>
            <a:endParaRPr lang="en-US" sz="1300" dirty="0"/>
          </a:p>
        </p:txBody>
      </p:sp>
      <p:sp>
        <p:nvSpPr>
          <p:cNvPr id="22" name="chip-Canada"/>
          <p:cNvSpPr/>
          <p:nvPr/>
        </p:nvSpPr>
        <p:spPr>
          <a:xfrm>
            <a:off x="9793224" y="2743200"/>
            <a:ext cx="832104" cy="411480"/>
          </a:xfrm>
          <a:prstGeom prst="roundRect">
            <a:avLst>
              <a:gd name="adj" fmla="val 48889"/>
            </a:avLst>
          </a:prstGeom>
          <a:solidFill>
            <a:schemeClr val="bg1"/>
          </a:solidFill>
          <a:ln w="12700">
            <a:solidFill>
              <a:srgbClr val="E4E1EE"/>
            </a:solidFill>
            <a:prstDash val="solid"/>
          </a:ln>
        </p:spPr>
      </p:sp>
      <p:sp>
        <p:nvSpPr>
          <p:cNvPr id="23" name="Text 18"/>
          <p:cNvSpPr txBox="1"/>
          <p:nvPr/>
        </p:nvSpPr>
        <p:spPr>
          <a:xfrm>
            <a:off x="9793224" y="2743200"/>
            <a:ext cx="832104" cy="411480"/>
          </a:xfrm>
          <a:prstGeom prst="rect">
            <a:avLst/>
          </a:prstGeom>
          <a:noFill/>
          <a:ln/>
        </p:spPr>
        <p:txBody>
          <a:bodyPr wrap="square" lIns="0" tIns="0" rIns="0" bIns="0" rtlCol="0" anchor="ctr"/>
          <a:lstStyle/>
          <a:p>
            <a:pPr algn="ctr" indent="0" marL="0">
              <a:buNone/>
            </a:pPr>
            <a:r>
              <a:rPr lang="en-US" sz="1300" dirty="0">
                <a:solidFill>
                  <a:schemeClr val="tx1"/>
                </a:solidFill>
              </a:rPr>
              <a:t>Canada</a:t>
            </a:r>
            <a:endParaRPr lang="en-US" sz="1300" dirty="0"/>
          </a:p>
        </p:txBody>
      </p:sp>
      <p:sp>
        <p:nvSpPr>
          <p:cNvPr id="24" name="chip-Latin America"/>
          <p:cNvSpPr/>
          <p:nvPr/>
        </p:nvSpPr>
        <p:spPr>
          <a:xfrm>
            <a:off x="7086600" y="3291840"/>
            <a:ext cx="1504188" cy="411480"/>
          </a:xfrm>
          <a:prstGeom prst="roundRect">
            <a:avLst>
              <a:gd name="adj" fmla="val 48889"/>
            </a:avLst>
          </a:prstGeom>
          <a:solidFill>
            <a:schemeClr val="bg1"/>
          </a:solidFill>
          <a:ln w="12700">
            <a:solidFill>
              <a:srgbClr val="E4E1EE"/>
            </a:solidFill>
            <a:prstDash val="solid"/>
          </a:ln>
        </p:spPr>
      </p:sp>
      <p:sp>
        <p:nvSpPr>
          <p:cNvPr id="25" name="Text 20"/>
          <p:cNvSpPr txBox="1"/>
          <p:nvPr/>
        </p:nvSpPr>
        <p:spPr>
          <a:xfrm>
            <a:off x="7086600" y="3291840"/>
            <a:ext cx="1504188" cy="411480"/>
          </a:xfrm>
          <a:prstGeom prst="rect">
            <a:avLst/>
          </a:prstGeom>
          <a:noFill/>
          <a:ln/>
        </p:spPr>
        <p:txBody>
          <a:bodyPr wrap="square" lIns="0" tIns="0" rIns="0" bIns="0" rtlCol="0" anchor="ctr"/>
          <a:lstStyle/>
          <a:p>
            <a:pPr algn="ctr" indent="0" marL="0">
              <a:buNone/>
            </a:pPr>
            <a:r>
              <a:rPr lang="en-US" sz="1300" dirty="0">
                <a:solidFill>
                  <a:schemeClr val="tx1"/>
                </a:solidFill>
              </a:rPr>
              <a:t>Latin America</a:t>
            </a:r>
            <a:endParaRPr lang="en-US" sz="1300" dirty="0"/>
          </a:p>
        </p:txBody>
      </p:sp>
      <p:sp>
        <p:nvSpPr>
          <p:cNvPr id="26" name="chip-Asia-Pacific"/>
          <p:cNvSpPr/>
          <p:nvPr/>
        </p:nvSpPr>
        <p:spPr>
          <a:xfrm>
            <a:off x="8727948" y="3291840"/>
            <a:ext cx="1408176" cy="411480"/>
          </a:xfrm>
          <a:prstGeom prst="roundRect">
            <a:avLst>
              <a:gd name="adj" fmla="val 48889"/>
            </a:avLst>
          </a:prstGeom>
          <a:solidFill>
            <a:schemeClr val="bg1"/>
          </a:solidFill>
          <a:ln w="12700">
            <a:solidFill>
              <a:srgbClr val="E4E1EE"/>
            </a:solidFill>
            <a:prstDash val="solid"/>
          </a:ln>
        </p:spPr>
      </p:sp>
      <p:sp>
        <p:nvSpPr>
          <p:cNvPr id="27" name="Text 22"/>
          <p:cNvSpPr txBox="1"/>
          <p:nvPr/>
        </p:nvSpPr>
        <p:spPr>
          <a:xfrm>
            <a:off x="8727948" y="3291840"/>
            <a:ext cx="1408176" cy="411480"/>
          </a:xfrm>
          <a:prstGeom prst="rect">
            <a:avLst/>
          </a:prstGeom>
          <a:noFill/>
          <a:ln/>
        </p:spPr>
        <p:txBody>
          <a:bodyPr wrap="square" lIns="0" tIns="0" rIns="0" bIns="0" rtlCol="0" anchor="ctr"/>
          <a:lstStyle/>
          <a:p>
            <a:pPr algn="ctr" indent="0" marL="0">
              <a:buNone/>
            </a:pPr>
            <a:r>
              <a:rPr lang="en-US" sz="1300" dirty="0">
                <a:solidFill>
                  <a:schemeClr val="tx1"/>
                </a:solidFill>
              </a:rPr>
              <a:t>Asia-Pacific</a:t>
            </a:r>
            <a:endParaRPr lang="en-US" sz="1300" dirty="0"/>
          </a:p>
        </p:txBody>
      </p:sp>
      <p:sp>
        <p:nvSpPr>
          <p:cNvPr id="28" name="mock-notes"/>
          <p:cNvSpPr/>
          <p:nvPr/>
        </p:nvSpPr>
        <p:spPr>
          <a:xfrm>
            <a:off x="7086600" y="3977640"/>
            <a:ext cx="4190695" cy="457200"/>
          </a:xfrm>
          <a:prstGeom prst="roundRect">
            <a:avLst>
              <a:gd name="adj" fmla="val 16000"/>
            </a:avLst>
          </a:prstGeom>
          <a:solidFill>
            <a:schemeClr val="bg1"/>
          </a:solidFill>
          <a:ln w="12700">
            <a:solidFill>
              <a:srgbClr val="E4E1EE"/>
            </a:solidFill>
            <a:prstDash val="solid"/>
          </a:ln>
        </p:spPr>
      </p:sp>
      <p:sp>
        <p:nvSpPr>
          <p:cNvPr id="29" name="Text 24"/>
          <p:cNvSpPr txBox="1"/>
          <p:nvPr/>
        </p:nvSpPr>
        <p:spPr>
          <a:xfrm>
            <a:off x="7223760" y="3977640"/>
            <a:ext cx="3916375" cy="457200"/>
          </a:xfrm>
          <a:prstGeom prst="rect">
            <a:avLst/>
          </a:prstGeom>
          <a:noFill/>
          <a:ln/>
        </p:spPr>
        <p:txBody>
          <a:bodyPr wrap="square" lIns="0" tIns="0" rIns="0" bIns="0" rtlCol="0" anchor="ctr"/>
          <a:lstStyle/>
          <a:p>
            <a:pPr indent="0" marL="0">
              <a:buNone/>
            </a:pPr>
            <a:r>
              <a:rPr lang="en-US" sz="1300" i="1" dirty="0">
                <a:solidFill>
                  <a:schemeClr val="accent6"/>
                </a:solidFill>
              </a:rPr>
              <a:t>Notes: 40% of contacts in Germany</a:t>
            </a:r>
            <a:endParaRPr lang="en-US" sz="1300" dirty="0"/>
          </a:p>
        </p:txBody>
      </p:sp>
      <p:pic>
        <p:nvPicPr>
          <p:cNvPr id="30" name="mock-flag" descr="flag">    </p:cNvPr>
          <p:cNvPicPr>
            <a:picLocks noChangeAspect="1"/>
          </p:cNvPicPr>
          <p:nvPr/>
        </p:nvPicPr>
        <p:blipFill>
          <a:blip r:embed="rId4"/>
          <a:stretch>
            <a:fillRect/>
          </a:stretch>
        </p:blipFill>
        <p:spPr>
          <a:xfrm>
            <a:off x="7086600" y="4681728"/>
            <a:ext cx="274320" cy="274320"/>
          </a:xfrm>
          <a:prstGeom prst="rect">
            <a:avLst/>
          </a:prstGeom>
        </p:spPr>
      </p:pic>
      <p:sp>
        <p:nvSpPr>
          <p:cNvPr id="31" name="Text 25"/>
          <p:cNvSpPr txBox="1"/>
          <p:nvPr/>
        </p:nvSpPr>
        <p:spPr>
          <a:xfrm>
            <a:off x="7498080" y="4636008"/>
            <a:ext cx="3200400" cy="365760"/>
          </a:xfrm>
          <a:prstGeom prst="rect">
            <a:avLst/>
          </a:prstGeom>
          <a:noFill/>
          <a:ln/>
        </p:spPr>
        <p:txBody>
          <a:bodyPr wrap="square" lIns="0" tIns="0" rIns="0" bIns="0" rtlCol="0" anchor="ctr"/>
          <a:lstStyle/>
          <a:p>
            <a:pPr indent="0" marL="0">
              <a:buNone/>
            </a:pPr>
            <a:r>
              <a:rPr lang="en-US" sz="1400" b="1" dirty="0">
                <a:solidFill>
                  <a:schemeClr val="accent2"/>
                </a:solidFill>
              </a:rPr>
              <a:t>Flagged for follow-up</a:t>
            </a:r>
            <a:endParaRPr lang="en-US" sz="1400" dirty="0"/>
          </a:p>
        </p:txBody>
      </p:sp>
      <p:sp>
        <p:nvSpPr>
          <p:cNvPr id="32" name="Text 26"/>
          <p:cNvSpPr txBox="1"/>
          <p:nvPr/>
        </p:nvSpPr>
        <p:spPr>
          <a:xfrm>
            <a:off x="7086600" y="5257800"/>
            <a:ext cx="4190695" cy="320040"/>
          </a:xfrm>
          <a:prstGeom prst="rect">
            <a:avLst/>
          </a:prstGeom>
          <a:noFill/>
          <a:ln/>
        </p:spPr>
        <p:txBody>
          <a:bodyPr wrap="square" lIns="0" tIns="0" rIns="0" bIns="0" rtlCol="0" anchor="t"/>
          <a:lstStyle/>
          <a:p>
            <a:pPr indent="0" marL="0">
              <a:buNone/>
            </a:pPr>
            <a:r>
              <a:rPr lang="en-US" sz="1100" i="1" dirty="0">
                <a:solidFill>
                  <a:schemeClr val="accent6"/>
                </a:solidFill>
              </a:rPr>
              <a:t>An example of a guided question during the call</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2 · Assess: see the health of their HubSpot</a:t>
            </a:r>
            <a:endParaRPr lang="en-US" sz="3400" dirty="0"/>
          </a:p>
        </p:txBody>
      </p:sp>
      <p:sp>
        <p:nvSpPr>
          <p:cNvPr id="3" name="assess-card-0"/>
          <p:cNvSpPr/>
          <p:nvPr/>
        </p:nvSpPr>
        <p:spPr>
          <a:xfrm>
            <a:off x="548640" y="1554480"/>
            <a:ext cx="3484778" cy="2514600"/>
          </a:xfrm>
          <a:prstGeom prst="roundRect">
            <a:avLst>
              <a:gd name="adj" fmla="val 4364"/>
            </a:avLst>
          </a:prstGeom>
          <a:solidFill>
            <a:schemeClr val="bg2"/>
          </a:solidFill>
          <a:ln w="12700">
            <a:solidFill>
              <a:schemeClr val="bg2"/>
            </a:solidFill>
            <a:prstDash val="solid"/>
          </a:ln>
        </p:spPr>
      </p:sp>
      <p:sp>
        <p:nvSpPr>
          <p:cNvPr id="4" name="assess-0-circle"/>
          <p:cNvSpPr/>
          <p:nvPr/>
        </p:nvSpPr>
        <p:spPr>
          <a:xfrm>
            <a:off x="868680" y="1828800"/>
            <a:ext cx="731520" cy="731520"/>
          </a:xfrm>
          <a:prstGeom prst="ellipse">
            <a:avLst/>
          </a:prstGeom>
          <a:solidFill>
            <a:schemeClr val="accent1"/>
          </a:solidFill>
          <a:ln w="12700">
            <a:solidFill>
              <a:schemeClr val="accent1"/>
            </a:solidFill>
            <a:prstDash val="solid"/>
          </a:ln>
        </p:spPr>
      </p:sp>
      <p:pic>
        <p:nvPicPr>
          <p:cNvPr id="5" name="assess-0-icon" descr="FaStethoscope">    </p:cNvPr>
          <p:cNvPicPr>
            <a:picLocks noChangeAspect="1"/>
          </p:cNvPicPr>
          <p:nvPr/>
        </p:nvPicPr>
        <p:blipFill>
          <a:blip r:embed="rId1"/>
          <a:stretch>
            <a:fillRect/>
          </a:stretch>
        </p:blipFill>
        <p:spPr>
          <a:xfrm>
            <a:off x="1051560" y="2011680"/>
            <a:ext cx="365760" cy="365760"/>
          </a:xfrm>
          <a:prstGeom prst="rect">
            <a:avLst/>
          </a:prstGeom>
        </p:spPr>
      </p:pic>
      <p:sp>
        <p:nvSpPr>
          <p:cNvPr id="6" name="Text 3"/>
          <p:cNvSpPr txBox="1"/>
          <p:nvPr/>
        </p:nvSpPr>
        <p:spPr>
          <a:xfrm>
            <a:off x="1783080" y="1965960"/>
            <a:ext cx="2021738" cy="457200"/>
          </a:xfrm>
          <a:prstGeom prst="rect">
            <a:avLst/>
          </a:prstGeom>
          <a:noFill/>
          <a:ln/>
        </p:spPr>
        <p:txBody>
          <a:bodyPr wrap="square" lIns="0" tIns="0" rIns="0" bIns="0" rtlCol="0" anchor="ctr"/>
          <a:lstStyle/>
          <a:p>
            <a:pPr indent="0" marL="0">
              <a:buNone/>
            </a:pPr>
            <a:r>
              <a:rPr lang="en-US" sz="2000" b="1" dirty="0">
                <a:solidFill>
                  <a:schemeClr val="tx2"/>
                </a:solidFill>
              </a:rPr>
              <a:t>Portal audit</a:t>
            </a:r>
            <a:endParaRPr lang="en-US" sz="2000" dirty="0"/>
          </a:p>
        </p:txBody>
      </p:sp>
      <p:sp>
        <p:nvSpPr>
          <p:cNvPr id="7" name="Text 4"/>
          <p:cNvSpPr txBox="1"/>
          <p:nvPr/>
        </p:nvSpPr>
        <p:spPr>
          <a:xfrm>
            <a:off x="868680" y="2743200"/>
            <a:ext cx="2844698" cy="1188720"/>
          </a:xfrm>
          <a:prstGeom prst="rect">
            <a:avLst/>
          </a:prstGeom>
          <a:noFill/>
          <a:ln/>
        </p:spPr>
        <p:txBody>
          <a:bodyPr wrap="square" lIns="0" tIns="0" rIns="0" bIns="0" rtlCol="0" anchor="t"/>
          <a:lstStyle/>
          <a:p>
            <a:pPr indent="0" marL="0">
              <a:buNone/>
            </a:pPr>
            <a:r>
              <a:rPr lang="en-US" sz="1500" dirty="0">
                <a:solidFill>
                  <a:schemeClr val="tx1"/>
                </a:solidFill>
              </a:rPr>
              <a:t>Finds duplicates, naming problems, risky automations and orphaned records.</a:t>
            </a:r>
            <a:endParaRPr lang="en-US" sz="1500" dirty="0"/>
          </a:p>
        </p:txBody>
      </p:sp>
      <p:sp>
        <p:nvSpPr>
          <p:cNvPr id="8" name="assess-card-1"/>
          <p:cNvSpPr/>
          <p:nvPr/>
        </p:nvSpPr>
        <p:spPr>
          <a:xfrm>
            <a:off x="4353458" y="1554480"/>
            <a:ext cx="3484778" cy="2514600"/>
          </a:xfrm>
          <a:prstGeom prst="roundRect">
            <a:avLst>
              <a:gd name="adj" fmla="val 4364"/>
            </a:avLst>
          </a:prstGeom>
          <a:solidFill>
            <a:schemeClr val="bg2"/>
          </a:solidFill>
          <a:ln w="12700">
            <a:solidFill>
              <a:schemeClr val="bg2"/>
            </a:solidFill>
            <a:prstDash val="solid"/>
          </a:ln>
        </p:spPr>
      </p:sp>
      <p:sp>
        <p:nvSpPr>
          <p:cNvPr id="9" name="assess-1-circle"/>
          <p:cNvSpPr/>
          <p:nvPr/>
        </p:nvSpPr>
        <p:spPr>
          <a:xfrm>
            <a:off x="4673498" y="1828800"/>
            <a:ext cx="731520" cy="731520"/>
          </a:xfrm>
          <a:prstGeom prst="ellipse">
            <a:avLst/>
          </a:prstGeom>
          <a:solidFill>
            <a:schemeClr val="accent1"/>
          </a:solidFill>
          <a:ln w="12700">
            <a:solidFill>
              <a:schemeClr val="accent1"/>
            </a:solidFill>
            <a:prstDash val="solid"/>
          </a:ln>
        </p:spPr>
      </p:sp>
      <p:pic>
        <p:nvPicPr>
          <p:cNvPr id="10" name="assess-1-icon" descr="FaTags">    </p:cNvPr>
          <p:cNvPicPr>
            <a:picLocks noChangeAspect="1"/>
          </p:cNvPicPr>
          <p:nvPr/>
        </p:nvPicPr>
        <p:blipFill>
          <a:blip r:embed="rId2"/>
          <a:stretch>
            <a:fillRect/>
          </a:stretch>
        </p:blipFill>
        <p:spPr>
          <a:xfrm>
            <a:off x="4856378" y="2011680"/>
            <a:ext cx="365760" cy="365760"/>
          </a:xfrm>
          <a:prstGeom prst="rect">
            <a:avLst/>
          </a:prstGeom>
        </p:spPr>
      </p:pic>
      <p:sp>
        <p:nvSpPr>
          <p:cNvPr id="11" name="Text 7"/>
          <p:cNvSpPr txBox="1"/>
          <p:nvPr/>
        </p:nvSpPr>
        <p:spPr>
          <a:xfrm>
            <a:off x="5587898" y="1965960"/>
            <a:ext cx="2021738" cy="457200"/>
          </a:xfrm>
          <a:prstGeom prst="rect">
            <a:avLst/>
          </a:prstGeom>
          <a:noFill/>
          <a:ln/>
        </p:spPr>
        <p:txBody>
          <a:bodyPr wrap="square" lIns="0" tIns="0" rIns="0" bIns="0" rtlCol="0" anchor="ctr"/>
          <a:lstStyle/>
          <a:p>
            <a:pPr indent="0" marL="0">
              <a:buNone/>
            </a:pPr>
            <a:r>
              <a:rPr lang="en-US" sz="2000" b="1" dirty="0">
                <a:solidFill>
                  <a:schemeClr val="tx2"/>
                </a:solidFill>
              </a:rPr>
              <a:t>Property review</a:t>
            </a:r>
            <a:endParaRPr lang="en-US" sz="2000" dirty="0"/>
          </a:p>
        </p:txBody>
      </p:sp>
      <p:sp>
        <p:nvSpPr>
          <p:cNvPr id="12" name="Text 8"/>
          <p:cNvSpPr txBox="1"/>
          <p:nvPr/>
        </p:nvSpPr>
        <p:spPr>
          <a:xfrm>
            <a:off x="4673498" y="2743200"/>
            <a:ext cx="2844698" cy="1188720"/>
          </a:xfrm>
          <a:prstGeom prst="rect">
            <a:avLst/>
          </a:prstGeom>
          <a:noFill/>
          <a:ln/>
        </p:spPr>
        <p:txBody>
          <a:bodyPr wrap="square" lIns="0" tIns="0" rIns="0" bIns="0" rtlCol="0" anchor="t"/>
          <a:lstStyle/>
          <a:p>
            <a:pPr indent="0" marL="0">
              <a:buNone/>
            </a:pPr>
            <a:r>
              <a:rPr lang="en-US" sz="1500" dirty="0">
                <a:solidFill>
                  <a:schemeClr val="tx1"/>
                </a:solidFill>
              </a:rPr>
              <a:t>Rates every field Keep, Review or Remove, with an Excel and PDF report.</a:t>
            </a:r>
            <a:endParaRPr lang="en-US" sz="1500" dirty="0"/>
          </a:p>
        </p:txBody>
      </p:sp>
      <p:sp>
        <p:nvSpPr>
          <p:cNvPr id="13" name="assess-card-2"/>
          <p:cNvSpPr/>
          <p:nvPr/>
        </p:nvSpPr>
        <p:spPr>
          <a:xfrm>
            <a:off x="8158277" y="1554480"/>
            <a:ext cx="3484778" cy="2514600"/>
          </a:xfrm>
          <a:prstGeom prst="roundRect">
            <a:avLst>
              <a:gd name="adj" fmla="val 4364"/>
            </a:avLst>
          </a:prstGeom>
          <a:solidFill>
            <a:schemeClr val="bg2"/>
          </a:solidFill>
          <a:ln w="12700">
            <a:solidFill>
              <a:schemeClr val="bg2"/>
            </a:solidFill>
            <a:prstDash val="solid"/>
          </a:ln>
        </p:spPr>
      </p:sp>
      <p:sp>
        <p:nvSpPr>
          <p:cNvPr id="14" name="assess-2-circle"/>
          <p:cNvSpPr/>
          <p:nvPr/>
        </p:nvSpPr>
        <p:spPr>
          <a:xfrm>
            <a:off x="8478317" y="1828800"/>
            <a:ext cx="731520" cy="731520"/>
          </a:xfrm>
          <a:prstGeom prst="ellipse">
            <a:avLst/>
          </a:prstGeom>
          <a:solidFill>
            <a:schemeClr val="accent1"/>
          </a:solidFill>
          <a:ln w="12700">
            <a:solidFill>
              <a:schemeClr val="accent1"/>
            </a:solidFill>
            <a:prstDash val="solid"/>
          </a:ln>
        </p:spPr>
      </p:sp>
      <p:pic>
        <p:nvPicPr>
          <p:cNvPr id="15" name="assess-2-icon" descr="FaChartColumn">    </p:cNvPr>
          <p:cNvPicPr>
            <a:picLocks noChangeAspect="1"/>
          </p:cNvPicPr>
          <p:nvPr/>
        </p:nvPicPr>
        <p:blipFill>
          <a:blip r:embed="rId3"/>
          <a:stretch>
            <a:fillRect/>
          </a:stretch>
        </p:blipFill>
        <p:spPr>
          <a:xfrm>
            <a:off x="8661197" y="2011680"/>
            <a:ext cx="365760" cy="365760"/>
          </a:xfrm>
          <a:prstGeom prst="rect">
            <a:avLst/>
          </a:prstGeom>
        </p:spPr>
      </p:pic>
      <p:sp>
        <p:nvSpPr>
          <p:cNvPr id="16" name="Text 11"/>
          <p:cNvSpPr txBox="1"/>
          <p:nvPr/>
        </p:nvSpPr>
        <p:spPr>
          <a:xfrm>
            <a:off x="9392717" y="1965960"/>
            <a:ext cx="2021738" cy="457200"/>
          </a:xfrm>
          <a:prstGeom prst="rect">
            <a:avLst/>
          </a:prstGeom>
          <a:noFill/>
          <a:ln/>
        </p:spPr>
        <p:txBody>
          <a:bodyPr wrap="square" lIns="0" tIns="0" rIns="0" bIns="0" rtlCol="0" anchor="ctr"/>
          <a:lstStyle/>
          <a:p>
            <a:pPr indent="0" marL="0">
              <a:buNone/>
            </a:pPr>
            <a:r>
              <a:rPr lang="en-US" sz="2000" b="1" dirty="0">
                <a:solidFill>
                  <a:schemeClr val="tx2"/>
                </a:solidFill>
              </a:rPr>
              <a:t>Executive report</a:t>
            </a:r>
            <a:endParaRPr lang="en-US" sz="2000" dirty="0"/>
          </a:p>
        </p:txBody>
      </p:sp>
      <p:sp>
        <p:nvSpPr>
          <p:cNvPr id="17" name="Text 12"/>
          <p:cNvSpPr txBox="1"/>
          <p:nvPr/>
        </p:nvSpPr>
        <p:spPr>
          <a:xfrm>
            <a:off x="8478317" y="2743200"/>
            <a:ext cx="2844698" cy="1188720"/>
          </a:xfrm>
          <a:prstGeom prst="rect">
            <a:avLst/>
          </a:prstGeom>
          <a:noFill/>
          <a:ln/>
        </p:spPr>
        <p:txBody>
          <a:bodyPr wrap="square" lIns="0" tIns="0" rIns="0" bIns="0" rtlCol="0" anchor="t"/>
          <a:lstStyle/>
          <a:p>
            <a:pPr indent="0" marL="0">
              <a:buNone/>
            </a:pPr>
            <a:r>
              <a:rPr lang="en-US" sz="1500" dirty="0">
                <a:solidFill>
                  <a:schemeClr val="tx1"/>
                </a:solidFill>
              </a:rPr>
              <a:t>A plain-language health summary for the client, plus a detailed internal version.</a:t>
            </a:r>
            <a:endParaRPr lang="en-US" sz="1500" dirty="0"/>
          </a:p>
        </p:txBody>
      </p:sp>
      <p:sp>
        <p:nvSpPr>
          <p:cNvPr id="18" name="Text 13"/>
          <p:cNvSpPr txBox="1"/>
          <p:nvPr/>
        </p:nvSpPr>
        <p:spPr>
          <a:xfrm>
            <a:off x="548640" y="4434840"/>
            <a:ext cx="5486400" cy="365760"/>
          </a:xfrm>
          <a:prstGeom prst="rect">
            <a:avLst/>
          </a:prstGeom>
          <a:noFill/>
          <a:ln/>
        </p:spPr>
        <p:txBody>
          <a:bodyPr wrap="square" lIns="0" tIns="0" rIns="0" bIns="0" rtlCol="0" anchor="t"/>
          <a:lstStyle/>
          <a:p>
            <a:pPr indent="0" marL="0">
              <a:buNone/>
            </a:pPr>
            <a:r>
              <a:rPr lang="en-US" sz="1400" b="1" dirty="0">
                <a:solidFill>
                  <a:schemeClr val="accent6"/>
                </a:solidFill>
              </a:rPr>
              <a:t>Health rating the client sees</a:t>
            </a:r>
            <a:endParaRPr lang="en-US" sz="1400" dirty="0"/>
          </a:p>
        </p:txBody>
      </p:sp>
      <p:sp>
        <p:nvSpPr>
          <p:cNvPr id="19" name="rating-0"/>
          <p:cNvSpPr/>
          <p:nvPr/>
        </p:nvSpPr>
        <p:spPr>
          <a:xfrm>
            <a:off x="548640" y="4892040"/>
            <a:ext cx="2636444" cy="731520"/>
          </a:xfrm>
          <a:prstGeom prst="roundRect">
            <a:avLst>
              <a:gd name="adj" fmla="val 50000"/>
            </a:avLst>
          </a:prstGeom>
          <a:solidFill>
            <a:srgbClr val="F7791D"/>
          </a:solidFill>
          <a:ln w="12700">
            <a:solidFill>
              <a:srgbClr val="F7791D"/>
            </a:solidFill>
            <a:prstDash val="solid"/>
          </a:ln>
        </p:spPr>
      </p:sp>
      <p:sp>
        <p:nvSpPr>
          <p:cNvPr id="20" name="Text 15"/>
          <p:cNvSpPr txBox="1"/>
          <p:nvPr/>
        </p:nvSpPr>
        <p:spPr>
          <a:xfrm>
            <a:off x="548640" y="4892040"/>
            <a:ext cx="2636444" cy="731520"/>
          </a:xfrm>
          <a:prstGeom prst="rect">
            <a:avLst/>
          </a:prstGeom>
          <a:noFill/>
          <a:ln/>
        </p:spPr>
        <p:txBody>
          <a:bodyPr wrap="square" lIns="0" tIns="0" rIns="0" bIns="0" rtlCol="0" anchor="ctr"/>
          <a:lstStyle/>
          <a:p>
            <a:pPr algn="ctr" indent="0" marL="0">
              <a:buNone/>
            </a:pPr>
            <a:r>
              <a:rPr lang="en-US" sz="1700" b="1" dirty="0">
                <a:solidFill>
                  <a:schemeClr val="bg1"/>
                </a:solidFill>
              </a:rPr>
              <a:t>Needs Attention</a:t>
            </a:r>
            <a:endParaRPr lang="en-US" sz="1700" dirty="0"/>
          </a:p>
        </p:txBody>
      </p:sp>
      <p:sp>
        <p:nvSpPr>
          <p:cNvPr id="21" name="rating-1"/>
          <p:cNvSpPr/>
          <p:nvPr/>
        </p:nvSpPr>
        <p:spPr>
          <a:xfrm>
            <a:off x="3367964" y="4892040"/>
            <a:ext cx="2636444" cy="731520"/>
          </a:xfrm>
          <a:prstGeom prst="roundRect">
            <a:avLst>
              <a:gd name="adj" fmla="val 50000"/>
            </a:avLst>
          </a:prstGeom>
          <a:solidFill>
            <a:srgbClr val="F2B66B"/>
          </a:solidFill>
          <a:ln w="12700">
            <a:solidFill>
              <a:srgbClr val="F2B66B"/>
            </a:solidFill>
            <a:prstDash val="solid"/>
          </a:ln>
        </p:spPr>
      </p:sp>
      <p:sp>
        <p:nvSpPr>
          <p:cNvPr id="22" name="Text 17"/>
          <p:cNvSpPr txBox="1"/>
          <p:nvPr/>
        </p:nvSpPr>
        <p:spPr>
          <a:xfrm>
            <a:off x="3367964" y="4892040"/>
            <a:ext cx="2636444" cy="731520"/>
          </a:xfrm>
          <a:prstGeom prst="rect">
            <a:avLst/>
          </a:prstGeom>
          <a:noFill/>
          <a:ln/>
        </p:spPr>
        <p:txBody>
          <a:bodyPr wrap="square" lIns="0" tIns="0" rIns="0" bIns="0" rtlCol="0" anchor="ctr"/>
          <a:lstStyle/>
          <a:p>
            <a:pPr algn="ctr" indent="0" marL="0">
              <a:buNone/>
            </a:pPr>
            <a:r>
              <a:rPr lang="en-US" sz="1700" b="1" dirty="0">
                <a:solidFill>
                  <a:schemeClr val="tx1"/>
                </a:solidFill>
              </a:rPr>
              <a:t>Fair</a:t>
            </a:r>
            <a:endParaRPr lang="en-US" sz="1700" dirty="0"/>
          </a:p>
        </p:txBody>
      </p:sp>
      <p:sp>
        <p:nvSpPr>
          <p:cNvPr id="23" name="rating-2"/>
          <p:cNvSpPr/>
          <p:nvPr/>
        </p:nvSpPr>
        <p:spPr>
          <a:xfrm>
            <a:off x="6187288" y="4892040"/>
            <a:ext cx="2636444" cy="731520"/>
          </a:xfrm>
          <a:prstGeom prst="roundRect">
            <a:avLst>
              <a:gd name="adj" fmla="val 50000"/>
            </a:avLst>
          </a:prstGeom>
          <a:solidFill>
            <a:srgbClr val="5B45B0"/>
          </a:solidFill>
          <a:ln w="12700">
            <a:solidFill>
              <a:srgbClr val="5B45B0"/>
            </a:solidFill>
            <a:prstDash val="solid"/>
          </a:ln>
        </p:spPr>
      </p:sp>
      <p:sp>
        <p:nvSpPr>
          <p:cNvPr id="24" name="Text 19"/>
          <p:cNvSpPr txBox="1"/>
          <p:nvPr/>
        </p:nvSpPr>
        <p:spPr>
          <a:xfrm>
            <a:off x="6187288" y="4892040"/>
            <a:ext cx="2636444" cy="731520"/>
          </a:xfrm>
          <a:prstGeom prst="rect">
            <a:avLst/>
          </a:prstGeom>
          <a:noFill/>
          <a:ln/>
        </p:spPr>
        <p:txBody>
          <a:bodyPr wrap="square" lIns="0" tIns="0" rIns="0" bIns="0" rtlCol="0" anchor="ctr"/>
          <a:lstStyle/>
          <a:p>
            <a:pPr algn="ctr" indent="0" marL="0">
              <a:buNone/>
            </a:pPr>
            <a:r>
              <a:rPr lang="en-US" sz="1700" b="1" dirty="0">
                <a:solidFill>
                  <a:schemeClr val="bg1"/>
                </a:solidFill>
              </a:rPr>
              <a:t>Good</a:t>
            </a:r>
            <a:endParaRPr lang="en-US" sz="1700" dirty="0"/>
          </a:p>
        </p:txBody>
      </p:sp>
      <p:sp>
        <p:nvSpPr>
          <p:cNvPr id="25" name="rating-3"/>
          <p:cNvSpPr/>
          <p:nvPr/>
        </p:nvSpPr>
        <p:spPr>
          <a:xfrm>
            <a:off x="9006611" y="4892040"/>
            <a:ext cx="2636444" cy="731520"/>
          </a:xfrm>
          <a:prstGeom prst="roundRect">
            <a:avLst>
              <a:gd name="adj" fmla="val 50000"/>
            </a:avLst>
          </a:prstGeom>
          <a:solidFill>
            <a:srgbClr val="3D2E7C"/>
          </a:solidFill>
          <a:ln w="12700">
            <a:solidFill>
              <a:srgbClr val="3D2E7C"/>
            </a:solidFill>
            <a:prstDash val="solid"/>
          </a:ln>
        </p:spPr>
      </p:sp>
      <p:sp>
        <p:nvSpPr>
          <p:cNvPr id="26" name="Text 21"/>
          <p:cNvSpPr txBox="1"/>
          <p:nvPr/>
        </p:nvSpPr>
        <p:spPr>
          <a:xfrm>
            <a:off x="9006611" y="4892040"/>
            <a:ext cx="2636444" cy="731520"/>
          </a:xfrm>
          <a:prstGeom prst="rect">
            <a:avLst/>
          </a:prstGeom>
          <a:noFill/>
          <a:ln/>
        </p:spPr>
        <p:txBody>
          <a:bodyPr wrap="square" lIns="0" tIns="0" rIns="0" bIns="0" rtlCol="0" anchor="ctr"/>
          <a:lstStyle/>
          <a:p>
            <a:pPr algn="ctr" indent="0" marL="0">
              <a:buNone/>
            </a:pPr>
            <a:r>
              <a:rPr lang="en-US" sz="1700" b="1" dirty="0">
                <a:solidFill>
                  <a:schemeClr val="bg1"/>
                </a:solidFill>
              </a:rPr>
              <a:t>Excellent</a:t>
            </a: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3 · Design: plan the right architecture</a:t>
            </a:r>
            <a:endParaRPr lang="en-US" sz="3400" dirty="0"/>
          </a:p>
        </p:txBody>
      </p:sp>
      <p:sp>
        <p:nvSpPr>
          <p:cNvPr id="3" name="Text 1"/>
          <p:cNvSpPr txBox="1"/>
          <p:nvPr/>
        </p:nvSpPr>
        <p:spPr>
          <a:xfrm>
            <a:off x="548640" y="1600200"/>
            <a:ext cx="5394960" cy="1371600"/>
          </a:xfrm>
          <a:prstGeom prst="rect">
            <a:avLst/>
          </a:prstGeom>
          <a:noFill/>
          <a:ln/>
        </p:spPr>
        <p:txBody>
          <a:bodyPr wrap="square" lIns="0" tIns="0" rIns="0" bIns="0" rtlCol="0" anchor="t"/>
          <a:lstStyle/>
          <a:p>
            <a:pPr indent="0" marL="0">
              <a:buNone/>
            </a:pPr>
            <a:r>
              <a:rPr lang="en-US" sz="1800" dirty="0">
                <a:solidFill>
                  <a:schemeClr val="tx2"/>
                </a:solidFill>
              </a:rPr>
              <a:t>Describe the client's business and the app proposes the HubSpot structure: records, fields, pipelines and automations, following our best practices.</a:t>
            </a:r>
            <a:endParaRPr lang="en-US" sz="1800" dirty="0"/>
          </a:p>
        </p:txBody>
      </p:sp>
      <p:sp>
        <p:nvSpPr>
          <p:cNvPr id="4" name="design-0-circle"/>
          <p:cNvSpPr/>
          <p:nvPr/>
        </p:nvSpPr>
        <p:spPr>
          <a:xfrm>
            <a:off x="548640" y="3246120"/>
            <a:ext cx="731520" cy="731520"/>
          </a:xfrm>
          <a:prstGeom prst="ellipse">
            <a:avLst/>
          </a:prstGeom>
          <a:solidFill>
            <a:schemeClr val="accent2"/>
          </a:solidFill>
          <a:ln w="12700">
            <a:solidFill>
              <a:schemeClr val="accent2"/>
            </a:solidFill>
            <a:prstDash val="solid"/>
          </a:ln>
        </p:spPr>
      </p:sp>
      <p:pic>
        <p:nvPicPr>
          <p:cNvPr id="5" name="design-0-icon" descr="FaShieldHalved">    </p:cNvPr>
          <p:cNvPicPr>
            <a:picLocks noChangeAspect="1"/>
          </p:cNvPicPr>
          <p:nvPr/>
        </p:nvPicPr>
        <p:blipFill>
          <a:blip r:embed="rId1"/>
          <a:stretch>
            <a:fillRect/>
          </a:stretch>
        </p:blipFill>
        <p:spPr>
          <a:xfrm>
            <a:off x="731520" y="3429000"/>
            <a:ext cx="365760" cy="365760"/>
          </a:xfrm>
          <a:prstGeom prst="rect">
            <a:avLst/>
          </a:prstGeom>
        </p:spPr>
      </p:pic>
      <p:sp>
        <p:nvSpPr>
          <p:cNvPr id="6" name="Text 3"/>
          <p:cNvSpPr txBox="1"/>
          <p:nvPr/>
        </p:nvSpPr>
        <p:spPr>
          <a:xfrm>
            <a:off x="1554480" y="3227832"/>
            <a:ext cx="4572000" cy="411480"/>
          </a:xfrm>
          <a:prstGeom prst="rect">
            <a:avLst/>
          </a:prstGeom>
          <a:noFill/>
          <a:ln/>
        </p:spPr>
        <p:txBody>
          <a:bodyPr wrap="square" lIns="0" tIns="0" rIns="0" bIns="0" rtlCol="0" anchor="t"/>
          <a:lstStyle/>
          <a:p>
            <a:pPr indent="0" marL="0">
              <a:buNone/>
            </a:pPr>
            <a:r>
              <a:rPr lang="en-US" sz="1900" b="1" dirty="0">
                <a:solidFill>
                  <a:schemeClr val="tx2"/>
                </a:solidFill>
              </a:rPr>
              <a:t>Built-in safety checks</a:t>
            </a:r>
            <a:endParaRPr lang="en-US" sz="1900" dirty="0"/>
          </a:p>
        </p:txBody>
      </p:sp>
      <p:sp>
        <p:nvSpPr>
          <p:cNvPr id="7" name="Text 4"/>
          <p:cNvSpPr txBox="1"/>
          <p:nvPr/>
        </p:nvSpPr>
        <p:spPr>
          <a:xfrm>
            <a:off x="1554480" y="3630168"/>
            <a:ext cx="4572000" cy="685800"/>
          </a:xfrm>
          <a:prstGeom prst="rect">
            <a:avLst/>
          </a:prstGeom>
          <a:noFill/>
          <a:ln/>
        </p:spPr>
        <p:txBody>
          <a:bodyPr wrap="square" lIns="0" tIns="0" rIns="0" bIns="0" rtlCol="0" anchor="t"/>
          <a:lstStyle/>
          <a:p>
            <a:pPr indent="0" marL="0">
              <a:buNone/>
            </a:pPr>
            <a:r>
              <a:rPr lang="en-US" sz="1500" dirty="0">
                <a:solidFill>
                  <a:schemeClr val="tx1"/>
                </a:solidFill>
              </a:rPr>
              <a:t>Automations that could overwrite data are flagged before we build them.</a:t>
            </a:r>
            <a:endParaRPr lang="en-US" sz="1500" dirty="0"/>
          </a:p>
        </p:txBody>
      </p:sp>
      <p:sp>
        <p:nvSpPr>
          <p:cNvPr id="8" name="design-1-circle"/>
          <p:cNvSpPr/>
          <p:nvPr/>
        </p:nvSpPr>
        <p:spPr>
          <a:xfrm>
            <a:off x="548640" y="4526280"/>
            <a:ext cx="731520" cy="731520"/>
          </a:xfrm>
          <a:prstGeom prst="ellipse">
            <a:avLst/>
          </a:prstGeom>
          <a:solidFill>
            <a:schemeClr val="accent2"/>
          </a:solidFill>
          <a:ln w="12700">
            <a:solidFill>
              <a:schemeClr val="accent2"/>
            </a:solidFill>
            <a:prstDash val="solid"/>
          </a:ln>
        </p:spPr>
      </p:sp>
      <p:pic>
        <p:nvPicPr>
          <p:cNvPr id="9" name="design-1-icon" descr="FaImage">    </p:cNvPr>
          <p:cNvPicPr>
            <a:picLocks noChangeAspect="1"/>
          </p:cNvPicPr>
          <p:nvPr/>
        </p:nvPicPr>
        <p:blipFill>
          <a:blip r:embed="rId2"/>
          <a:stretch>
            <a:fillRect/>
          </a:stretch>
        </p:blipFill>
        <p:spPr>
          <a:xfrm>
            <a:off x="731520" y="4709160"/>
            <a:ext cx="365760" cy="365760"/>
          </a:xfrm>
          <a:prstGeom prst="rect">
            <a:avLst/>
          </a:prstGeom>
        </p:spPr>
      </p:pic>
      <p:sp>
        <p:nvSpPr>
          <p:cNvPr id="10" name="Text 6"/>
          <p:cNvSpPr txBox="1"/>
          <p:nvPr/>
        </p:nvSpPr>
        <p:spPr>
          <a:xfrm>
            <a:off x="1554480" y="4507992"/>
            <a:ext cx="4572000" cy="411480"/>
          </a:xfrm>
          <a:prstGeom prst="rect">
            <a:avLst/>
          </a:prstGeom>
          <a:noFill/>
          <a:ln/>
        </p:spPr>
        <p:txBody>
          <a:bodyPr wrap="square" lIns="0" tIns="0" rIns="0" bIns="0" rtlCol="0" anchor="t"/>
          <a:lstStyle/>
          <a:p>
            <a:pPr indent="0" marL="0">
              <a:buNone/>
            </a:pPr>
            <a:r>
              <a:rPr lang="en-US" sz="1900" b="1" dirty="0">
                <a:solidFill>
                  <a:schemeClr val="tx2"/>
                </a:solidFill>
              </a:rPr>
              <a:t>A diagram in seconds</a:t>
            </a:r>
            <a:endParaRPr lang="en-US" sz="1900" dirty="0"/>
          </a:p>
        </p:txBody>
      </p:sp>
      <p:sp>
        <p:nvSpPr>
          <p:cNvPr id="11" name="Text 7"/>
          <p:cNvSpPr txBox="1"/>
          <p:nvPr/>
        </p:nvSpPr>
        <p:spPr>
          <a:xfrm>
            <a:off x="1554480" y="4910328"/>
            <a:ext cx="4572000" cy="685800"/>
          </a:xfrm>
          <a:prstGeom prst="rect">
            <a:avLst/>
          </a:prstGeom>
          <a:noFill/>
          <a:ln/>
        </p:spPr>
        <p:txBody>
          <a:bodyPr wrap="square" lIns="0" tIns="0" rIns="0" bIns="0" rtlCol="0" anchor="t"/>
          <a:lstStyle/>
          <a:p>
            <a:pPr indent="0" marL="0">
              <a:buNone/>
            </a:pPr>
            <a:r>
              <a:rPr lang="en-US" sz="1500" dirty="0">
                <a:solidFill>
                  <a:schemeClr val="tx1"/>
                </a:solidFill>
              </a:rPr>
              <a:t>Share it with the client as an image, or edit it in draw.io.</a:t>
            </a:r>
            <a:endParaRPr lang="en-US" sz="1500" dirty="0"/>
          </a:p>
        </p:txBody>
      </p:sp>
      <p:sp>
        <p:nvSpPr>
          <p:cNvPr id="12" name="mini-diagram"/>
          <p:cNvSpPr/>
          <p:nvPr/>
        </p:nvSpPr>
        <p:spPr>
          <a:xfrm>
            <a:off x="6583680" y="1508760"/>
            <a:ext cx="5059375" cy="4434840"/>
          </a:xfrm>
          <a:prstGeom prst="roundRect">
            <a:avLst>
              <a:gd name="adj" fmla="val 2474"/>
            </a:avLst>
          </a:prstGeom>
          <a:solidFill>
            <a:schemeClr val="bg2"/>
          </a:solidFill>
          <a:ln w="12700">
            <a:solidFill>
              <a:schemeClr val="bg2"/>
            </a:solidFill>
            <a:prstDash val="solid"/>
          </a:ln>
        </p:spPr>
      </p:sp>
      <p:sp>
        <p:nvSpPr>
          <p:cNvPr id="13" name="link-Contact-Company"/>
          <p:cNvSpPr/>
          <p:nvPr/>
        </p:nvSpPr>
        <p:spPr>
          <a:xfrm>
            <a:off x="7932420" y="2446020"/>
            <a:ext cx="2377440" cy="914"/>
          </a:xfrm>
          <a:prstGeom prst="line">
            <a:avLst/>
          </a:prstGeom>
          <a:noFill/>
          <a:ln w="22225">
            <a:solidFill>
              <a:srgbClr val="5B45B0"/>
            </a:solidFill>
            <a:prstDash val="solid"/>
          </a:ln>
        </p:spPr>
      </p:sp>
      <p:sp>
        <p:nvSpPr>
          <p:cNvPr id="14" name="link-Contact-Deal"/>
          <p:cNvSpPr/>
          <p:nvPr/>
        </p:nvSpPr>
        <p:spPr>
          <a:xfrm>
            <a:off x="7932420" y="2446020"/>
            <a:ext cx="914" cy="2194560"/>
          </a:xfrm>
          <a:prstGeom prst="line">
            <a:avLst/>
          </a:prstGeom>
          <a:noFill/>
          <a:ln w="22225">
            <a:solidFill>
              <a:srgbClr val="5B45B0"/>
            </a:solidFill>
            <a:prstDash val="solid"/>
          </a:ln>
        </p:spPr>
      </p:sp>
      <p:sp>
        <p:nvSpPr>
          <p:cNvPr id="15" name="link-Deal-Membership"/>
          <p:cNvSpPr/>
          <p:nvPr/>
        </p:nvSpPr>
        <p:spPr>
          <a:xfrm>
            <a:off x="7932420" y="4640580"/>
            <a:ext cx="2377440" cy="914"/>
          </a:xfrm>
          <a:prstGeom prst="line">
            <a:avLst/>
          </a:prstGeom>
          <a:noFill/>
          <a:ln w="22225">
            <a:solidFill>
              <a:srgbClr val="5B45B0"/>
            </a:solidFill>
            <a:prstDash val="solid"/>
          </a:ln>
        </p:spPr>
      </p:sp>
      <p:sp>
        <p:nvSpPr>
          <p:cNvPr id="16" name="link-Company-Membership"/>
          <p:cNvSpPr/>
          <p:nvPr/>
        </p:nvSpPr>
        <p:spPr>
          <a:xfrm>
            <a:off x="10309860" y="2446020"/>
            <a:ext cx="914" cy="2194560"/>
          </a:xfrm>
          <a:prstGeom prst="line">
            <a:avLst/>
          </a:prstGeom>
          <a:noFill/>
          <a:ln w="22225">
            <a:solidFill>
              <a:srgbClr val="5B45B0"/>
            </a:solidFill>
            <a:prstDash val="solid"/>
          </a:ln>
        </p:spPr>
      </p:sp>
      <p:sp>
        <p:nvSpPr>
          <p:cNvPr id="17" name="node-Contact"/>
          <p:cNvSpPr/>
          <p:nvPr/>
        </p:nvSpPr>
        <p:spPr>
          <a:xfrm>
            <a:off x="6995160" y="2057400"/>
            <a:ext cx="1874520" cy="777240"/>
          </a:xfrm>
          <a:prstGeom prst="roundRect">
            <a:avLst>
              <a:gd name="adj" fmla="val 11765"/>
            </a:avLst>
          </a:prstGeom>
          <a:solidFill>
            <a:schemeClr val="bg1"/>
          </a:solidFill>
          <a:ln w="19050">
            <a:solidFill>
              <a:srgbClr val="5B45B0"/>
            </a:solidFill>
            <a:prstDash val="solid"/>
          </a:ln>
        </p:spPr>
      </p:sp>
      <p:sp>
        <p:nvSpPr>
          <p:cNvPr id="18" name="Text 14"/>
          <p:cNvSpPr txBox="1"/>
          <p:nvPr/>
        </p:nvSpPr>
        <p:spPr>
          <a:xfrm>
            <a:off x="6995160" y="2057400"/>
            <a:ext cx="1874520" cy="777240"/>
          </a:xfrm>
          <a:prstGeom prst="rect">
            <a:avLst/>
          </a:prstGeom>
          <a:noFill/>
          <a:ln/>
        </p:spPr>
        <p:txBody>
          <a:bodyPr wrap="square" lIns="0" tIns="0" rIns="0" bIns="0" rtlCol="0" anchor="ctr"/>
          <a:lstStyle/>
          <a:p>
            <a:pPr algn="ctr" indent="0" marL="0">
              <a:buNone/>
            </a:pPr>
            <a:r>
              <a:rPr lang="en-US" sz="1600" b="1" dirty="0">
                <a:solidFill>
                  <a:schemeClr val="tx2"/>
                </a:solidFill>
              </a:rPr>
              <a:t>Contact</a:t>
            </a:r>
            <a:endParaRPr lang="en-US" sz="1600" dirty="0"/>
          </a:p>
        </p:txBody>
      </p:sp>
      <p:sp>
        <p:nvSpPr>
          <p:cNvPr id="19" name="node-Company"/>
          <p:cNvSpPr/>
          <p:nvPr/>
        </p:nvSpPr>
        <p:spPr>
          <a:xfrm>
            <a:off x="9372600" y="2057400"/>
            <a:ext cx="1874520" cy="777240"/>
          </a:xfrm>
          <a:prstGeom prst="roundRect">
            <a:avLst>
              <a:gd name="adj" fmla="val 11765"/>
            </a:avLst>
          </a:prstGeom>
          <a:solidFill>
            <a:schemeClr val="bg1"/>
          </a:solidFill>
          <a:ln w="19050">
            <a:solidFill>
              <a:srgbClr val="5B45B0"/>
            </a:solidFill>
            <a:prstDash val="solid"/>
          </a:ln>
        </p:spPr>
      </p:sp>
      <p:sp>
        <p:nvSpPr>
          <p:cNvPr id="20" name="Text 16"/>
          <p:cNvSpPr txBox="1"/>
          <p:nvPr/>
        </p:nvSpPr>
        <p:spPr>
          <a:xfrm>
            <a:off x="9372600" y="2057400"/>
            <a:ext cx="1874520" cy="777240"/>
          </a:xfrm>
          <a:prstGeom prst="rect">
            <a:avLst/>
          </a:prstGeom>
          <a:noFill/>
          <a:ln/>
        </p:spPr>
        <p:txBody>
          <a:bodyPr wrap="square" lIns="0" tIns="0" rIns="0" bIns="0" rtlCol="0" anchor="ctr"/>
          <a:lstStyle/>
          <a:p>
            <a:pPr algn="ctr" indent="0" marL="0">
              <a:buNone/>
            </a:pPr>
            <a:r>
              <a:rPr lang="en-US" sz="1600" b="1" dirty="0">
                <a:solidFill>
                  <a:schemeClr val="tx2"/>
                </a:solidFill>
              </a:rPr>
              <a:t>Company</a:t>
            </a:r>
            <a:endParaRPr lang="en-US" sz="1600" dirty="0"/>
          </a:p>
        </p:txBody>
      </p:sp>
      <p:sp>
        <p:nvSpPr>
          <p:cNvPr id="21" name="node-Deal"/>
          <p:cNvSpPr/>
          <p:nvPr/>
        </p:nvSpPr>
        <p:spPr>
          <a:xfrm>
            <a:off x="6995160" y="4251960"/>
            <a:ext cx="1874520" cy="777240"/>
          </a:xfrm>
          <a:prstGeom prst="roundRect">
            <a:avLst>
              <a:gd name="adj" fmla="val 11765"/>
            </a:avLst>
          </a:prstGeom>
          <a:solidFill>
            <a:schemeClr val="bg1"/>
          </a:solidFill>
          <a:ln w="19050">
            <a:solidFill>
              <a:srgbClr val="5B45B0"/>
            </a:solidFill>
            <a:prstDash val="solid"/>
          </a:ln>
        </p:spPr>
      </p:sp>
      <p:sp>
        <p:nvSpPr>
          <p:cNvPr id="22" name="Text 18"/>
          <p:cNvSpPr txBox="1"/>
          <p:nvPr/>
        </p:nvSpPr>
        <p:spPr>
          <a:xfrm>
            <a:off x="6995160" y="4251960"/>
            <a:ext cx="1874520" cy="777240"/>
          </a:xfrm>
          <a:prstGeom prst="rect">
            <a:avLst/>
          </a:prstGeom>
          <a:noFill/>
          <a:ln/>
        </p:spPr>
        <p:txBody>
          <a:bodyPr wrap="square" lIns="0" tIns="0" rIns="0" bIns="0" rtlCol="0" anchor="ctr"/>
          <a:lstStyle/>
          <a:p>
            <a:pPr algn="ctr" indent="0" marL="0">
              <a:buNone/>
            </a:pPr>
            <a:r>
              <a:rPr lang="en-US" sz="1600" b="1" dirty="0">
                <a:solidFill>
                  <a:schemeClr val="tx2"/>
                </a:solidFill>
              </a:rPr>
              <a:t>Deal</a:t>
            </a:r>
            <a:endParaRPr lang="en-US" sz="1600" dirty="0"/>
          </a:p>
        </p:txBody>
      </p:sp>
      <p:sp>
        <p:nvSpPr>
          <p:cNvPr id="23" name="node-Membership"/>
          <p:cNvSpPr/>
          <p:nvPr/>
        </p:nvSpPr>
        <p:spPr>
          <a:xfrm>
            <a:off x="9372600" y="4251960"/>
            <a:ext cx="1874520" cy="777240"/>
          </a:xfrm>
          <a:prstGeom prst="roundRect">
            <a:avLst>
              <a:gd name="adj" fmla="val 11765"/>
            </a:avLst>
          </a:prstGeom>
          <a:solidFill>
            <a:schemeClr val="accent2"/>
          </a:solidFill>
          <a:ln w="19050">
            <a:solidFill>
              <a:srgbClr val="F7791D"/>
            </a:solidFill>
            <a:prstDash val="solid"/>
          </a:ln>
        </p:spPr>
      </p:sp>
      <p:sp>
        <p:nvSpPr>
          <p:cNvPr id="24" name="Text 20"/>
          <p:cNvSpPr txBox="1"/>
          <p:nvPr/>
        </p:nvSpPr>
        <p:spPr>
          <a:xfrm>
            <a:off x="9372600" y="4251960"/>
            <a:ext cx="1874520" cy="777240"/>
          </a:xfrm>
          <a:prstGeom prst="rect">
            <a:avLst/>
          </a:prstGeom>
          <a:noFill/>
          <a:ln/>
        </p:spPr>
        <p:txBody>
          <a:bodyPr wrap="square" lIns="0" tIns="0" rIns="0" bIns="0" rtlCol="0" anchor="ctr"/>
          <a:lstStyle/>
          <a:p>
            <a:pPr algn="ctr" indent="0" marL="0">
              <a:buNone/>
            </a:pPr>
            <a:r>
              <a:rPr lang="en-US" sz="1600" b="1" dirty="0">
                <a:solidFill>
                  <a:schemeClr val="bg1"/>
                </a:solidFill>
              </a:rPr>
              <a:t>Membership</a:t>
            </a:r>
            <a:endParaRPr lang="en-US" sz="1600" dirty="0"/>
          </a:p>
        </p:txBody>
      </p:sp>
      <p:sp>
        <p:nvSpPr>
          <p:cNvPr id="25" name="Text 21"/>
          <p:cNvSpPr txBox="1"/>
          <p:nvPr/>
        </p:nvSpPr>
        <p:spPr>
          <a:xfrm>
            <a:off x="6949440" y="5349240"/>
            <a:ext cx="4327855" cy="365760"/>
          </a:xfrm>
          <a:prstGeom prst="rect">
            <a:avLst/>
          </a:prstGeom>
          <a:noFill/>
          <a:ln/>
        </p:spPr>
        <p:txBody>
          <a:bodyPr wrap="square" lIns="0" tIns="0" rIns="0" bIns="0" rtlCol="0" anchor="t"/>
          <a:lstStyle/>
          <a:p>
            <a:pPr indent="0" marL="0">
              <a:buNone/>
            </a:pPr>
            <a:r>
              <a:rPr lang="en-US" sz="1200" i="1" dirty="0">
                <a:solidFill>
                  <a:schemeClr val="accent6"/>
                </a:solidFill>
              </a:rPr>
              <a:t>Orange = a custom record designed for this client</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4 · Propose: proposals that match what we build</a:t>
            </a:r>
            <a:endParaRPr lang="en-US" sz="3400" dirty="0"/>
          </a:p>
        </p:txBody>
      </p:sp>
      <p:sp>
        <p:nvSpPr>
          <p:cNvPr id="3" name="propose-card-0"/>
          <p:cNvSpPr/>
          <p:nvPr/>
        </p:nvSpPr>
        <p:spPr>
          <a:xfrm>
            <a:off x="548640" y="1554480"/>
            <a:ext cx="5387188" cy="1645920"/>
          </a:xfrm>
          <a:prstGeom prst="roundRect">
            <a:avLst>
              <a:gd name="adj" fmla="val 6667"/>
            </a:avLst>
          </a:prstGeom>
          <a:solidFill>
            <a:schemeClr val="bg2"/>
          </a:solidFill>
          <a:ln w="12700">
            <a:solidFill>
              <a:schemeClr val="bg2"/>
            </a:solidFill>
            <a:prstDash val="solid"/>
          </a:ln>
        </p:spPr>
      </p:sp>
      <p:sp>
        <p:nvSpPr>
          <p:cNvPr id="4" name="propose-0-circle"/>
          <p:cNvSpPr/>
          <p:nvPr/>
        </p:nvSpPr>
        <p:spPr>
          <a:xfrm>
            <a:off x="868680" y="1965960"/>
            <a:ext cx="822960" cy="822960"/>
          </a:xfrm>
          <a:prstGeom prst="ellipse">
            <a:avLst/>
          </a:prstGeom>
          <a:solidFill>
            <a:schemeClr val="accent1"/>
          </a:solidFill>
          <a:ln w="12700">
            <a:solidFill>
              <a:schemeClr val="accent1"/>
            </a:solidFill>
            <a:prstDash val="solid"/>
          </a:ln>
        </p:spPr>
      </p:sp>
      <p:pic>
        <p:nvPicPr>
          <p:cNvPr id="5" name="propose-0-icon" descr="FaBookOpen">    </p:cNvPr>
          <p:cNvPicPr>
            <a:picLocks noChangeAspect="1"/>
          </p:cNvPicPr>
          <p:nvPr/>
        </p:nvPicPr>
        <p:blipFill>
          <a:blip r:embed="rId1"/>
          <a:stretch>
            <a:fillRect/>
          </a:stretch>
        </p:blipFill>
        <p:spPr>
          <a:xfrm>
            <a:off x="1074420" y="2171700"/>
            <a:ext cx="411480" cy="411480"/>
          </a:xfrm>
          <a:prstGeom prst="rect">
            <a:avLst/>
          </a:prstGeom>
        </p:spPr>
      </p:pic>
      <p:sp>
        <p:nvSpPr>
          <p:cNvPr id="6" name="Text 3"/>
          <p:cNvSpPr txBox="1"/>
          <p:nvPr/>
        </p:nvSpPr>
        <p:spPr>
          <a:xfrm>
            <a:off x="1965960" y="1874520"/>
            <a:ext cx="3649828" cy="457200"/>
          </a:xfrm>
          <a:prstGeom prst="rect">
            <a:avLst/>
          </a:prstGeom>
          <a:noFill/>
          <a:ln/>
        </p:spPr>
        <p:txBody>
          <a:bodyPr wrap="square" lIns="0" tIns="0" rIns="0" bIns="0" rtlCol="0" anchor="t"/>
          <a:lstStyle/>
          <a:p>
            <a:pPr indent="0" marL="0">
              <a:buNone/>
            </a:pPr>
            <a:r>
              <a:rPr lang="en-US" sz="2000" b="1" dirty="0">
                <a:solidFill>
                  <a:schemeClr val="tx2"/>
                </a:solidFill>
              </a:rPr>
              <a:t>Scope library</a:t>
            </a:r>
            <a:endParaRPr lang="en-US" sz="2000" dirty="0"/>
          </a:p>
        </p:txBody>
      </p:sp>
      <p:sp>
        <p:nvSpPr>
          <p:cNvPr id="7" name="Text 4"/>
          <p:cNvSpPr txBox="1"/>
          <p:nvPr/>
        </p:nvSpPr>
        <p:spPr>
          <a:xfrm>
            <a:off x="1965960" y="2331720"/>
            <a:ext cx="3649828" cy="731520"/>
          </a:xfrm>
          <a:prstGeom prst="rect">
            <a:avLst/>
          </a:prstGeom>
          <a:noFill/>
          <a:ln/>
        </p:spPr>
        <p:txBody>
          <a:bodyPr wrap="square" lIns="0" tIns="0" rIns="0" bIns="0" rtlCol="0" anchor="t"/>
          <a:lstStyle/>
          <a:p>
            <a:pPr indent="0" marL="0">
              <a:buNone/>
            </a:pPr>
            <a:r>
              <a:rPr lang="en-US" sz="1500" dirty="0">
                <a:solidFill>
                  <a:schemeClr val="tx1"/>
                </a:solidFill>
              </a:rPr>
              <a:t>Standard scope items and add-on services, with clear acceptance criteria.</a:t>
            </a:r>
            <a:endParaRPr lang="en-US" sz="1500" dirty="0"/>
          </a:p>
        </p:txBody>
      </p:sp>
      <p:sp>
        <p:nvSpPr>
          <p:cNvPr id="8" name="propose-card-1"/>
          <p:cNvSpPr/>
          <p:nvPr/>
        </p:nvSpPr>
        <p:spPr>
          <a:xfrm>
            <a:off x="6255868" y="1554480"/>
            <a:ext cx="5387188" cy="1645920"/>
          </a:xfrm>
          <a:prstGeom prst="roundRect">
            <a:avLst>
              <a:gd name="adj" fmla="val 6667"/>
            </a:avLst>
          </a:prstGeom>
          <a:solidFill>
            <a:schemeClr val="bg2"/>
          </a:solidFill>
          <a:ln w="12700">
            <a:solidFill>
              <a:schemeClr val="bg2"/>
            </a:solidFill>
            <a:prstDash val="solid"/>
          </a:ln>
        </p:spPr>
      </p:sp>
      <p:sp>
        <p:nvSpPr>
          <p:cNvPr id="9" name="propose-1-circle"/>
          <p:cNvSpPr/>
          <p:nvPr/>
        </p:nvSpPr>
        <p:spPr>
          <a:xfrm>
            <a:off x="6575908" y="1965960"/>
            <a:ext cx="822960" cy="822960"/>
          </a:xfrm>
          <a:prstGeom prst="ellipse">
            <a:avLst/>
          </a:prstGeom>
          <a:solidFill>
            <a:schemeClr val="accent1"/>
          </a:solidFill>
          <a:ln w="12700">
            <a:solidFill>
              <a:schemeClr val="accent1"/>
            </a:solidFill>
            <a:prstDash val="solid"/>
          </a:ln>
        </p:spPr>
      </p:sp>
      <p:pic>
        <p:nvPicPr>
          <p:cNvPr id="10" name="propose-1-icon" descr="FaCalculator">    </p:cNvPr>
          <p:cNvPicPr>
            <a:picLocks noChangeAspect="1"/>
          </p:cNvPicPr>
          <p:nvPr/>
        </p:nvPicPr>
        <p:blipFill>
          <a:blip r:embed="rId2"/>
          <a:stretch>
            <a:fillRect/>
          </a:stretch>
        </p:blipFill>
        <p:spPr>
          <a:xfrm>
            <a:off x="6781648" y="2171700"/>
            <a:ext cx="411480" cy="411480"/>
          </a:xfrm>
          <a:prstGeom prst="rect">
            <a:avLst/>
          </a:prstGeom>
        </p:spPr>
      </p:pic>
      <p:sp>
        <p:nvSpPr>
          <p:cNvPr id="11" name="Text 7"/>
          <p:cNvSpPr txBox="1"/>
          <p:nvPr/>
        </p:nvSpPr>
        <p:spPr>
          <a:xfrm>
            <a:off x="7673188" y="1874520"/>
            <a:ext cx="3649828" cy="457200"/>
          </a:xfrm>
          <a:prstGeom prst="rect">
            <a:avLst/>
          </a:prstGeom>
          <a:noFill/>
          <a:ln/>
        </p:spPr>
        <p:txBody>
          <a:bodyPr wrap="square" lIns="0" tIns="0" rIns="0" bIns="0" rtlCol="0" anchor="t"/>
          <a:lstStyle/>
          <a:p>
            <a:pPr indent="0" marL="0">
              <a:buNone/>
            </a:pPr>
            <a:r>
              <a:rPr lang="en-US" sz="2000" b="1" dirty="0">
                <a:solidFill>
                  <a:schemeClr val="tx2"/>
                </a:solidFill>
              </a:rPr>
              <a:t>Automatic pricing</a:t>
            </a:r>
            <a:endParaRPr lang="en-US" sz="2000" dirty="0"/>
          </a:p>
        </p:txBody>
      </p:sp>
      <p:sp>
        <p:nvSpPr>
          <p:cNvPr id="12" name="Text 8"/>
          <p:cNvSpPr txBox="1"/>
          <p:nvPr/>
        </p:nvSpPr>
        <p:spPr>
          <a:xfrm>
            <a:off x="7673188" y="2331720"/>
            <a:ext cx="3649828" cy="731520"/>
          </a:xfrm>
          <a:prstGeom prst="rect">
            <a:avLst/>
          </a:prstGeom>
          <a:noFill/>
          <a:ln/>
        </p:spPr>
        <p:txBody>
          <a:bodyPr wrap="square" lIns="0" tIns="0" rIns="0" bIns="0" rtlCol="0" anchor="t"/>
          <a:lstStyle/>
          <a:p>
            <a:pPr indent="0" marL="0">
              <a:buNone/>
            </a:pPr>
            <a:r>
              <a:rPr lang="en-US" sz="1500" dirty="0">
                <a:solidFill>
                  <a:schemeClr val="tx1"/>
                </a:solidFill>
              </a:rPr>
              <a:t>Milestones, add-ons and discounts add up for you.</a:t>
            </a:r>
            <a:endParaRPr lang="en-US" sz="1500" dirty="0"/>
          </a:p>
        </p:txBody>
      </p:sp>
      <p:sp>
        <p:nvSpPr>
          <p:cNvPr id="13" name="propose-card-2"/>
          <p:cNvSpPr/>
          <p:nvPr/>
        </p:nvSpPr>
        <p:spPr>
          <a:xfrm>
            <a:off x="548640" y="3429000"/>
            <a:ext cx="5387188" cy="1645920"/>
          </a:xfrm>
          <a:prstGeom prst="roundRect">
            <a:avLst>
              <a:gd name="adj" fmla="val 6667"/>
            </a:avLst>
          </a:prstGeom>
          <a:solidFill>
            <a:schemeClr val="bg2"/>
          </a:solidFill>
          <a:ln w="12700">
            <a:solidFill>
              <a:schemeClr val="bg2"/>
            </a:solidFill>
            <a:prstDash val="solid"/>
          </a:ln>
        </p:spPr>
      </p:sp>
      <p:sp>
        <p:nvSpPr>
          <p:cNvPr id="14" name="propose-2-circle"/>
          <p:cNvSpPr/>
          <p:nvPr/>
        </p:nvSpPr>
        <p:spPr>
          <a:xfrm>
            <a:off x="868680" y="3840480"/>
            <a:ext cx="822960" cy="822960"/>
          </a:xfrm>
          <a:prstGeom prst="ellipse">
            <a:avLst/>
          </a:prstGeom>
          <a:solidFill>
            <a:schemeClr val="accent2"/>
          </a:solidFill>
          <a:ln w="12700">
            <a:solidFill>
              <a:schemeClr val="accent2"/>
            </a:solidFill>
            <a:prstDash val="solid"/>
          </a:ln>
        </p:spPr>
      </p:sp>
      <p:pic>
        <p:nvPicPr>
          <p:cNvPr id="15" name="propose-2-icon" descr="FaCircleCheck">    </p:cNvPr>
          <p:cNvPicPr>
            <a:picLocks noChangeAspect="1"/>
          </p:cNvPicPr>
          <p:nvPr/>
        </p:nvPicPr>
        <p:blipFill>
          <a:blip r:embed="rId3"/>
          <a:stretch>
            <a:fillRect/>
          </a:stretch>
        </p:blipFill>
        <p:spPr>
          <a:xfrm>
            <a:off x="1074420" y="4046220"/>
            <a:ext cx="411480" cy="411480"/>
          </a:xfrm>
          <a:prstGeom prst="rect">
            <a:avLst/>
          </a:prstGeom>
        </p:spPr>
      </p:pic>
      <p:sp>
        <p:nvSpPr>
          <p:cNvPr id="16" name="Text 11"/>
          <p:cNvSpPr txBox="1"/>
          <p:nvPr/>
        </p:nvSpPr>
        <p:spPr>
          <a:xfrm>
            <a:off x="1965960" y="3749040"/>
            <a:ext cx="3649828" cy="457200"/>
          </a:xfrm>
          <a:prstGeom prst="rect">
            <a:avLst/>
          </a:prstGeom>
          <a:noFill/>
          <a:ln/>
        </p:spPr>
        <p:txBody>
          <a:bodyPr wrap="square" lIns="0" tIns="0" rIns="0" bIns="0" rtlCol="0" anchor="t"/>
          <a:lstStyle/>
          <a:p>
            <a:pPr indent="0" marL="0">
              <a:buNone/>
            </a:pPr>
            <a:r>
              <a:rPr lang="en-US" sz="2000" b="1" dirty="0">
                <a:solidFill>
                  <a:schemeClr val="tx2"/>
                </a:solidFill>
              </a:rPr>
              <a:t>Coverage check</a:t>
            </a:r>
            <a:endParaRPr lang="en-US" sz="2000" dirty="0"/>
          </a:p>
        </p:txBody>
      </p:sp>
      <p:sp>
        <p:nvSpPr>
          <p:cNvPr id="17" name="Text 12"/>
          <p:cNvSpPr txBox="1"/>
          <p:nvPr/>
        </p:nvSpPr>
        <p:spPr>
          <a:xfrm>
            <a:off x="1965960" y="4206240"/>
            <a:ext cx="3649828" cy="731520"/>
          </a:xfrm>
          <a:prstGeom prst="rect">
            <a:avLst/>
          </a:prstGeom>
          <a:noFill/>
          <a:ln/>
        </p:spPr>
        <p:txBody>
          <a:bodyPr wrap="square" lIns="0" tIns="0" rIns="0" bIns="0" rtlCol="0" anchor="t"/>
          <a:lstStyle/>
          <a:p>
            <a:pPr indent="0" marL="0">
              <a:buNone/>
            </a:pPr>
            <a:r>
              <a:rPr lang="en-US" sz="1500" dirty="0">
                <a:solidFill>
                  <a:schemeClr val="tx1"/>
                </a:solidFill>
              </a:rPr>
              <a:t>Warns when a client requirement isn't covered by any scope item.</a:t>
            </a:r>
            <a:endParaRPr lang="en-US" sz="1500" dirty="0"/>
          </a:p>
        </p:txBody>
      </p:sp>
      <p:sp>
        <p:nvSpPr>
          <p:cNvPr id="18" name="propose-card-3"/>
          <p:cNvSpPr/>
          <p:nvPr/>
        </p:nvSpPr>
        <p:spPr>
          <a:xfrm>
            <a:off x="6255868" y="3429000"/>
            <a:ext cx="5387188" cy="1645920"/>
          </a:xfrm>
          <a:prstGeom prst="roundRect">
            <a:avLst>
              <a:gd name="adj" fmla="val 6667"/>
            </a:avLst>
          </a:prstGeom>
          <a:solidFill>
            <a:schemeClr val="bg2"/>
          </a:solidFill>
          <a:ln w="12700">
            <a:solidFill>
              <a:schemeClr val="bg2"/>
            </a:solidFill>
            <a:prstDash val="solid"/>
          </a:ln>
        </p:spPr>
      </p:sp>
      <p:sp>
        <p:nvSpPr>
          <p:cNvPr id="19" name="propose-3-circle"/>
          <p:cNvSpPr/>
          <p:nvPr/>
        </p:nvSpPr>
        <p:spPr>
          <a:xfrm>
            <a:off x="6575908" y="3840480"/>
            <a:ext cx="822960" cy="822960"/>
          </a:xfrm>
          <a:prstGeom prst="ellipse">
            <a:avLst/>
          </a:prstGeom>
          <a:solidFill>
            <a:schemeClr val="accent1"/>
          </a:solidFill>
          <a:ln w="12700">
            <a:solidFill>
              <a:schemeClr val="accent1"/>
            </a:solidFill>
            <a:prstDash val="solid"/>
          </a:ln>
        </p:spPr>
      </p:sp>
      <p:pic>
        <p:nvPicPr>
          <p:cNvPr id="20" name="propose-3-icon" descr="FaFilePdf">    </p:cNvPr>
          <p:cNvPicPr>
            <a:picLocks noChangeAspect="1"/>
          </p:cNvPicPr>
          <p:nvPr/>
        </p:nvPicPr>
        <p:blipFill>
          <a:blip r:embed="rId4"/>
          <a:stretch>
            <a:fillRect/>
          </a:stretch>
        </p:blipFill>
        <p:spPr>
          <a:xfrm>
            <a:off x="6781648" y="4046220"/>
            <a:ext cx="411480" cy="411480"/>
          </a:xfrm>
          <a:prstGeom prst="rect">
            <a:avLst/>
          </a:prstGeom>
        </p:spPr>
      </p:pic>
      <p:sp>
        <p:nvSpPr>
          <p:cNvPr id="21" name="Text 15"/>
          <p:cNvSpPr txBox="1"/>
          <p:nvPr/>
        </p:nvSpPr>
        <p:spPr>
          <a:xfrm>
            <a:off x="7673188" y="3749040"/>
            <a:ext cx="3649828" cy="457200"/>
          </a:xfrm>
          <a:prstGeom prst="rect">
            <a:avLst/>
          </a:prstGeom>
          <a:noFill/>
          <a:ln/>
        </p:spPr>
        <p:txBody>
          <a:bodyPr wrap="square" lIns="0" tIns="0" rIns="0" bIns="0" rtlCol="0" anchor="t"/>
          <a:lstStyle/>
          <a:p>
            <a:pPr indent="0" marL="0">
              <a:buNone/>
            </a:pPr>
            <a:r>
              <a:rPr lang="en-US" sz="2000" b="1" dirty="0">
                <a:solidFill>
                  <a:schemeClr val="tx2"/>
                </a:solidFill>
              </a:rPr>
              <a:t>Branded PDF</a:t>
            </a:r>
            <a:endParaRPr lang="en-US" sz="2000" dirty="0"/>
          </a:p>
        </p:txBody>
      </p:sp>
      <p:sp>
        <p:nvSpPr>
          <p:cNvPr id="22" name="Text 16"/>
          <p:cNvSpPr txBox="1"/>
          <p:nvPr/>
        </p:nvSpPr>
        <p:spPr>
          <a:xfrm>
            <a:off x="7673188" y="4206240"/>
            <a:ext cx="3649828" cy="731520"/>
          </a:xfrm>
          <a:prstGeom prst="rect">
            <a:avLst/>
          </a:prstGeom>
          <a:noFill/>
          <a:ln/>
        </p:spPr>
        <p:txBody>
          <a:bodyPr wrap="square" lIns="0" tIns="0" rIns="0" bIns="0" rtlCol="0" anchor="t"/>
          <a:lstStyle/>
          <a:p>
            <a:pPr indent="0" marL="0">
              <a:buNone/>
            </a:pPr>
            <a:r>
              <a:rPr lang="en-US" sz="1500" dirty="0">
                <a:solidFill>
                  <a:schemeClr val="tx1"/>
                </a:solidFill>
              </a:rPr>
              <a:t>A professional proposal and Statement of Work, ready to send.</a:t>
            </a:r>
            <a:endParaRPr lang="en-US" sz="1500" dirty="0"/>
          </a:p>
        </p:txBody>
      </p:sp>
      <p:sp>
        <p:nvSpPr>
          <p:cNvPr id="23" name="Text 17"/>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600" b="1" i="1" dirty="0">
                <a:solidFill>
                  <a:schemeClr val="accent1"/>
                </a:solidFill>
              </a:rPr>
              <a:t>Requirements from discovery flow straight into the proposal: nothing promised that isn't scoped.</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5 · Deliver: hand over with everything in one place</a:t>
            </a:r>
            <a:endParaRPr lang="en-US" sz="3400" dirty="0"/>
          </a:p>
        </p:txBody>
      </p:sp>
      <p:sp>
        <p:nvSpPr>
          <p:cNvPr id="3" name="deliver-card-0"/>
          <p:cNvSpPr/>
          <p:nvPr/>
        </p:nvSpPr>
        <p:spPr>
          <a:xfrm>
            <a:off x="548640" y="1600200"/>
            <a:ext cx="11094415" cy="1188720"/>
          </a:xfrm>
          <a:prstGeom prst="roundRect">
            <a:avLst>
              <a:gd name="adj" fmla="val 9231"/>
            </a:avLst>
          </a:prstGeom>
          <a:solidFill>
            <a:schemeClr val="bg2"/>
          </a:solidFill>
          <a:ln w="12700">
            <a:solidFill>
              <a:schemeClr val="bg2"/>
            </a:solidFill>
            <a:prstDash val="solid"/>
          </a:ln>
        </p:spPr>
      </p:sp>
      <p:sp>
        <p:nvSpPr>
          <p:cNvPr id="4" name="deliver-0-circle"/>
          <p:cNvSpPr/>
          <p:nvPr/>
        </p:nvSpPr>
        <p:spPr>
          <a:xfrm>
            <a:off x="868680" y="1801368"/>
            <a:ext cx="786384" cy="786384"/>
          </a:xfrm>
          <a:prstGeom prst="ellipse">
            <a:avLst/>
          </a:prstGeom>
          <a:solidFill>
            <a:schemeClr val="accent1"/>
          </a:solidFill>
          <a:ln w="12700">
            <a:solidFill>
              <a:schemeClr val="accent1"/>
            </a:solidFill>
            <a:prstDash val="solid"/>
          </a:ln>
        </p:spPr>
      </p:sp>
      <p:pic>
        <p:nvPicPr>
          <p:cNvPr id="5" name="deliver-0-icon" descr="FaClipboardCheck">    </p:cNvPr>
          <p:cNvPicPr>
            <a:picLocks noChangeAspect="1"/>
          </p:cNvPicPr>
          <p:nvPr/>
        </p:nvPicPr>
        <p:blipFill>
          <a:blip r:embed="rId1"/>
          <a:stretch>
            <a:fillRect/>
          </a:stretch>
        </p:blipFill>
        <p:spPr>
          <a:xfrm>
            <a:off x="1065276" y="1997964"/>
            <a:ext cx="393192" cy="393192"/>
          </a:xfrm>
          <a:prstGeom prst="rect">
            <a:avLst/>
          </a:prstGeom>
        </p:spPr>
      </p:pic>
      <p:sp>
        <p:nvSpPr>
          <p:cNvPr id="6" name="Text 3"/>
          <p:cNvSpPr txBox="1"/>
          <p:nvPr/>
        </p:nvSpPr>
        <p:spPr>
          <a:xfrm>
            <a:off x="1965960" y="1783080"/>
            <a:ext cx="3017520" cy="822960"/>
          </a:xfrm>
          <a:prstGeom prst="rect">
            <a:avLst/>
          </a:prstGeom>
          <a:noFill/>
          <a:ln/>
        </p:spPr>
        <p:txBody>
          <a:bodyPr wrap="square" lIns="0" tIns="0" rIns="0" bIns="0" rtlCol="0" anchor="ctr"/>
          <a:lstStyle/>
          <a:p>
            <a:pPr indent="0" marL="0">
              <a:buNone/>
            </a:pPr>
            <a:r>
              <a:rPr lang="en-US" sz="2100" b="1" dirty="0">
                <a:solidFill>
                  <a:schemeClr val="tx2"/>
                </a:solidFill>
              </a:rPr>
              <a:t>Test plan</a:t>
            </a:r>
            <a:endParaRPr lang="en-US" sz="2100" dirty="0"/>
          </a:p>
        </p:txBody>
      </p:sp>
      <p:sp>
        <p:nvSpPr>
          <p:cNvPr id="7" name="Text 4"/>
          <p:cNvSpPr txBox="1"/>
          <p:nvPr/>
        </p:nvSpPr>
        <p:spPr>
          <a:xfrm>
            <a:off x="5029200" y="1783080"/>
            <a:ext cx="6248095" cy="822960"/>
          </a:xfrm>
          <a:prstGeom prst="rect">
            <a:avLst/>
          </a:prstGeom>
          <a:noFill/>
          <a:ln/>
        </p:spPr>
        <p:txBody>
          <a:bodyPr wrap="square" lIns="0" tIns="0" rIns="0" bIns="0" rtlCol="0" anchor="ctr"/>
          <a:lstStyle/>
          <a:p>
            <a:pPr indent="0" marL="0">
              <a:buNone/>
            </a:pPr>
            <a:r>
              <a:rPr lang="en-US" sz="1600" dirty="0">
                <a:solidFill>
                  <a:schemeClr val="tx1"/>
                </a:solidFill>
              </a:rPr>
              <a:t>Test cases built from the client's own requirements, so we can show each one works.</a:t>
            </a:r>
            <a:endParaRPr lang="en-US" sz="1600" dirty="0"/>
          </a:p>
        </p:txBody>
      </p:sp>
      <p:sp>
        <p:nvSpPr>
          <p:cNvPr id="8" name="deliver-card-1"/>
          <p:cNvSpPr/>
          <p:nvPr/>
        </p:nvSpPr>
        <p:spPr>
          <a:xfrm>
            <a:off x="548640" y="3017520"/>
            <a:ext cx="11094415" cy="1188720"/>
          </a:xfrm>
          <a:prstGeom prst="roundRect">
            <a:avLst>
              <a:gd name="adj" fmla="val 9231"/>
            </a:avLst>
          </a:prstGeom>
          <a:solidFill>
            <a:schemeClr val="bg2"/>
          </a:solidFill>
          <a:ln w="12700">
            <a:solidFill>
              <a:schemeClr val="bg2"/>
            </a:solidFill>
            <a:prstDash val="solid"/>
          </a:ln>
        </p:spPr>
      </p:sp>
      <p:sp>
        <p:nvSpPr>
          <p:cNvPr id="9" name="deliver-1-circle"/>
          <p:cNvSpPr/>
          <p:nvPr/>
        </p:nvSpPr>
        <p:spPr>
          <a:xfrm>
            <a:off x="868680" y="3218688"/>
            <a:ext cx="786384" cy="786384"/>
          </a:xfrm>
          <a:prstGeom prst="ellipse">
            <a:avLst/>
          </a:prstGeom>
          <a:solidFill>
            <a:schemeClr val="accent1"/>
          </a:solidFill>
          <a:ln w="12700">
            <a:solidFill>
              <a:schemeClr val="accent1"/>
            </a:solidFill>
            <a:prstDash val="solid"/>
          </a:ln>
        </p:spPr>
      </p:sp>
      <p:pic>
        <p:nvPicPr>
          <p:cNvPr id="10" name="deliver-1-icon" descr="FaFolderOpen">    </p:cNvPr>
          <p:cNvPicPr>
            <a:picLocks noChangeAspect="1"/>
          </p:cNvPicPr>
          <p:nvPr/>
        </p:nvPicPr>
        <p:blipFill>
          <a:blip r:embed="rId2"/>
          <a:stretch>
            <a:fillRect/>
          </a:stretch>
        </p:blipFill>
        <p:spPr>
          <a:xfrm>
            <a:off x="1065276" y="3415284"/>
            <a:ext cx="393192" cy="393192"/>
          </a:xfrm>
          <a:prstGeom prst="rect">
            <a:avLst/>
          </a:prstGeom>
        </p:spPr>
      </p:pic>
      <p:sp>
        <p:nvSpPr>
          <p:cNvPr id="11" name="Text 7"/>
          <p:cNvSpPr txBox="1"/>
          <p:nvPr/>
        </p:nvSpPr>
        <p:spPr>
          <a:xfrm>
            <a:off x="1965960" y="3200400"/>
            <a:ext cx="3017520" cy="822960"/>
          </a:xfrm>
          <a:prstGeom prst="rect">
            <a:avLst/>
          </a:prstGeom>
          <a:noFill/>
          <a:ln/>
        </p:spPr>
        <p:txBody>
          <a:bodyPr wrap="square" lIns="0" tIns="0" rIns="0" bIns="0" rtlCol="0" anchor="ctr"/>
          <a:lstStyle/>
          <a:p>
            <a:pPr indent="0" marL="0">
              <a:buNone/>
            </a:pPr>
            <a:r>
              <a:rPr lang="en-US" sz="2100" b="1" dirty="0">
                <a:solidFill>
                  <a:schemeClr val="tx2"/>
                </a:solidFill>
              </a:rPr>
              <a:t>Project library</a:t>
            </a:r>
            <a:endParaRPr lang="en-US" sz="2100" dirty="0"/>
          </a:p>
        </p:txBody>
      </p:sp>
      <p:sp>
        <p:nvSpPr>
          <p:cNvPr id="12" name="Text 8"/>
          <p:cNvSpPr txBox="1"/>
          <p:nvPr/>
        </p:nvSpPr>
        <p:spPr>
          <a:xfrm>
            <a:off x="5029200" y="3200400"/>
            <a:ext cx="6248095" cy="822960"/>
          </a:xfrm>
          <a:prstGeom prst="rect">
            <a:avLst/>
          </a:prstGeom>
          <a:noFill/>
          <a:ln/>
        </p:spPr>
        <p:txBody>
          <a:bodyPr wrap="square" lIns="0" tIns="0" rIns="0" bIns="0" rtlCol="0" anchor="ctr"/>
          <a:lstStyle/>
          <a:p>
            <a:pPr indent="0" marL="0">
              <a:buNone/>
            </a:pPr>
            <a:r>
              <a:rPr lang="en-US" sz="1600" dirty="0">
                <a:solidFill>
                  <a:schemeClr val="tx1"/>
                </a:solidFill>
              </a:rPr>
              <a:t>Every document for a client, saved and dated, ready to find later.</a:t>
            </a:r>
            <a:endParaRPr lang="en-US" sz="1600" dirty="0"/>
          </a:p>
        </p:txBody>
      </p:sp>
      <p:sp>
        <p:nvSpPr>
          <p:cNvPr id="13" name="deliver-card-2"/>
          <p:cNvSpPr/>
          <p:nvPr/>
        </p:nvSpPr>
        <p:spPr>
          <a:xfrm>
            <a:off x="548640" y="4434840"/>
            <a:ext cx="11094415" cy="1188720"/>
          </a:xfrm>
          <a:prstGeom prst="roundRect">
            <a:avLst>
              <a:gd name="adj" fmla="val 9231"/>
            </a:avLst>
          </a:prstGeom>
          <a:solidFill>
            <a:schemeClr val="bg2"/>
          </a:solidFill>
          <a:ln w="12700">
            <a:solidFill>
              <a:schemeClr val="bg2"/>
            </a:solidFill>
            <a:prstDash val="solid"/>
          </a:ln>
        </p:spPr>
      </p:sp>
      <p:sp>
        <p:nvSpPr>
          <p:cNvPr id="14" name="deliver-2-circle"/>
          <p:cNvSpPr/>
          <p:nvPr/>
        </p:nvSpPr>
        <p:spPr>
          <a:xfrm>
            <a:off x="868680" y="4636008"/>
            <a:ext cx="786384" cy="786384"/>
          </a:xfrm>
          <a:prstGeom prst="ellipse">
            <a:avLst/>
          </a:prstGeom>
          <a:solidFill>
            <a:schemeClr val="accent1"/>
          </a:solidFill>
          <a:ln w="12700">
            <a:solidFill>
              <a:schemeClr val="accent1"/>
            </a:solidFill>
            <a:prstDash val="solid"/>
          </a:ln>
        </p:spPr>
      </p:sp>
      <p:pic>
        <p:nvPicPr>
          <p:cNvPr id="15" name="deliver-2-icon" descr="FaFileExport">    </p:cNvPr>
          <p:cNvPicPr>
            <a:picLocks noChangeAspect="1"/>
          </p:cNvPicPr>
          <p:nvPr/>
        </p:nvPicPr>
        <p:blipFill>
          <a:blip r:embed="rId3"/>
          <a:stretch>
            <a:fillRect/>
          </a:stretch>
        </p:blipFill>
        <p:spPr>
          <a:xfrm>
            <a:off x="1065276" y="4832604"/>
            <a:ext cx="393192" cy="393192"/>
          </a:xfrm>
          <a:prstGeom prst="rect">
            <a:avLst/>
          </a:prstGeom>
        </p:spPr>
      </p:pic>
      <p:sp>
        <p:nvSpPr>
          <p:cNvPr id="16" name="Text 11"/>
          <p:cNvSpPr txBox="1"/>
          <p:nvPr/>
        </p:nvSpPr>
        <p:spPr>
          <a:xfrm>
            <a:off x="1965960" y="4617720"/>
            <a:ext cx="3017520" cy="822960"/>
          </a:xfrm>
          <a:prstGeom prst="rect">
            <a:avLst/>
          </a:prstGeom>
          <a:noFill/>
          <a:ln/>
        </p:spPr>
        <p:txBody>
          <a:bodyPr wrap="square" lIns="0" tIns="0" rIns="0" bIns="0" rtlCol="0" anchor="ctr"/>
          <a:lstStyle/>
          <a:p>
            <a:pPr indent="0" marL="0">
              <a:buNone/>
            </a:pPr>
            <a:r>
              <a:rPr lang="en-US" sz="2100" b="1" dirty="0">
                <a:solidFill>
                  <a:schemeClr val="tx2"/>
                </a:solidFill>
              </a:rPr>
              <a:t>Editable files</a:t>
            </a:r>
            <a:endParaRPr lang="en-US" sz="2100" dirty="0"/>
          </a:p>
        </p:txBody>
      </p:sp>
      <p:sp>
        <p:nvSpPr>
          <p:cNvPr id="17" name="Text 12"/>
          <p:cNvSpPr txBox="1"/>
          <p:nvPr/>
        </p:nvSpPr>
        <p:spPr>
          <a:xfrm>
            <a:off x="5029200" y="4617720"/>
            <a:ext cx="6248095" cy="822960"/>
          </a:xfrm>
          <a:prstGeom prst="rect">
            <a:avLst/>
          </a:prstGeom>
          <a:noFill/>
          <a:ln/>
        </p:spPr>
        <p:txBody>
          <a:bodyPr wrap="square" lIns="0" tIns="0" rIns="0" bIns="0" rtlCol="0" anchor="ctr"/>
          <a:lstStyle/>
          <a:p>
            <a:pPr indent="0" marL="0">
              <a:buNone/>
            </a:pPr>
            <a:r>
              <a:rPr lang="en-US" sz="1600" dirty="0">
                <a:solidFill>
                  <a:schemeClr val="tx1"/>
                </a:solidFill>
              </a:rPr>
              <a:t>Word, Excel and PDF, so the team can keep working in familiar tools.</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Why it matters</a:t>
            </a:r>
            <a:endParaRPr lang="en-US" sz="3400" dirty="0"/>
          </a:p>
        </p:txBody>
      </p:sp>
      <p:sp>
        <p:nvSpPr>
          <p:cNvPr id="3" name="benefit-card-0"/>
          <p:cNvSpPr/>
          <p:nvPr/>
        </p:nvSpPr>
        <p:spPr>
          <a:xfrm>
            <a:off x="548640" y="1554480"/>
            <a:ext cx="3484778" cy="1965960"/>
          </a:xfrm>
          <a:prstGeom prst="roundRect">
            <a:avLst>
              <a:gd name="adj" fmla="val 5581"/>
            </a:avLst>
          </a:prstGeom>
          <a:solidFill>
            <a:schemeClr val="bg2"/>
          </a:solidFill>
          <a:ln w="12700">
            <a:solidFill>
              <a:schemeClr val="bg2"/>
            </a:solidFill>
            <a:prstDash val="solid"/>
          </a:ln>
        </p:spPr>
      </p:sp>
      <p:sp>
        <p:nvSpPr>
          <p:cNvPr id="4" name="benefit-0-circle"/>
          <p:cNvSpPr/>
          <p:nvPr/>
        </p:nvSpPr>
        <p:spPr>
          <a:xfrm>
            <a:off x="868680" y="1874520"/>
            <a:ext cx="685800" cy="685800"/>
          </a:xfrm>
          <a:prstGeom prst="ellipse">
            <a:avLst/>
          </a:prstGeom>
          <a:solidFill>
            <a:schemeClr val="accent1"/>
          </a:solidFill>
          <a:ln w="12700">
            <a:solidFill>
              <a:schemeClr val="accent1"/>
            </a:solidFill>
            <a:prstDash val="solid"/>
          </a:ln>
        </p:spPr>
      </p:sp>
      <p:pic>
        <p:nvPicPr>
          <p:cNvPr id="5" name="benefit-0-icon" descr="FaBolt">    </p:cNvPr>
          <p:cNvPicPr>
            <a:picLocks noChangeAspect="1"/>
          </p:cNvPicPr>
          <p:nvPr/>
        </p:nvPicPr>
        <p:blipFill>
          <a:blip r:embed="rId1"/>
          <a:stretch>
            <a:fillRect/>
          </a:stretch>
        </p:blipFill>
        <p:spPr>
          <a:xfrm>
            <a:off x="1040130" y="2045970"/>
            <a:ext cx="342900" cy="342900"/>
          </a:xfrm>
          <a:prstGeom prst="rect">
            <a:avLst/>
          </a:prstGeom>
        </p:spPr>
      </p:pic>
      <p:sp>
        <p:nvSpPr>
          <p:cNvPr id="6" name="Text 3"/>
          <p:cNvSpPr txBox="1"/>
          <p:nvPr/>
        </p:nvSpPr>
        <p:spPr>
          <a:xfrm>
            <a:off x="1737360" y="1938528"/>
            <a:ext cx="2021738" cy="548640"/>
          </a:xfrm>
          <a:prstGeom prst="rect">
            <a:avLst/>
          </a:prstGeom>
          <a:noFill/>
          <a:ln/>
        </p:spPr>
        <p:txBody>
          <a:bodyPr wrap="square" lIns="0" tIns="0" rIns="0" bIns="0" rtlCol="0" anchor="ctr"/>
          <a:lstStyle/>
          <a:p>
            <a:pPr indent="0" marL="0">
              <a:buNone/>
            </a:pPr>
            <a:r>
              <a:rPr lang="en-US" sz="2100" b="1" dirty="0">
                <a:solidFill>
                  <a:schemeClr val="tx2"/>
                </a:solidFill>
              </a:rPr>
              <a:t>Faster</a:t>
            </a:r>
            <a:endParaRPr lang="en-US" sz="2100" dirty="0"/>
          </a:p>
        </p:txBody>
      </p:sp>
      <p:sp>
        <p:nvSpPr>
          <p:cNvPr id="7" name="Text 4"/>
          <p:cNvSpPr txBox="1"/>
          <p:nvPr/>
        </p:nvSpPr>
        <p:spPr>
          <a:xfrm>
            <a:off x="868680" y="2697480"/>
            <a:ext cx="2844698" cy="731520"/>
          </a:xfrm>
          <a:prstGeom prst="rect">
            <a:avLst/>
          </a:prstGeom>
          <a:noFill/>
          <a:ln/>
        </p:spPr>
        <p:txBody>
          <a:bodyPr wrap="square" lIns="0" tIns="0" rIns="0" bIns="0" rtlCol="0" anchor="t"/>
          <a:lstStyle/>
          <a:p>
            <a:pPr indent="0" marL="0">
              <a:buNone/>
            </a:pPr>
            <a:r>
              <a:rPr lang="en-US" sz="1500" dirty="0">
                <a:solidFill>
                  <a:schemeClr val="tx1"/>
                </a:solidFill>
              </a:rPr>
              <a:t>Documents that took hours are drafted in minutes.</a:t>
            </a:r>
            <a:endParaRPr lang="en-US" sz="1500" dirty="0"/>
          </a:p>
        </p:txBody>
      </p:sp>
      <p:sp>
        <p:nvSpPr>
          <p:cNvPr id="8" name="benefit-card-1"/>
          <p:cNvSpPr/>
          <p:nvPr/>
        </p:nvSpPr>
        <p:spPr>
          <a:xfrm>
            <a:off x="4353458" y="1554480"/>
            <a:ext cx="3484778" cy="1965960"/>
          </a:xfrm>
          <a:prstGeom prst="roundRect">
            <a:avLst>
              <a:gd name="adj" fmla="val 5581"/>
            </a:avLst>
          </a:prstGeom>
          <a:solidFill>
            <a:schemeClr val="bg2"/>
          </a:solidFill>
          <a:ln w="12700">
            <a:solidFill>
              <a:schemeClr val="bg2"/>
            </a:solidFill>
            <a:prstDash val="solid"/>
          </a:ln>
        </p:spPr>
      </p:sp>
      <p:sp>
        <p:nvSpPr>
          <p:cNvPr id="9" name="benefit-1-circle"/>
          <p:cNvSpPr/>
          <p:nvPr/>
        </p:nvSpPr>
        <p:spPr>
          <a:xfrm>
            <a:off x="4673498" y="1874520"/>
            <a:ext cx="685800" cy="685800"/>
          </a:xfrm>
          <a:prstGeom prst="ellipse">
            <a:avLst/>
          </a:prstGeom>
          <a:solidFill>
            <a:schemeClr val="accent2"/>
          </a:solidFill>
          <a:ln w="12700">
            <a:solidFill>
              <a:schemeClr val="accent2"/>
            </a:solidFill>
            <a:prstDash val="solid"/>
          </a:ln>
        </p:spPr>
      </p:sp>
      <p:pic>
        <p:nvPicPr>
          <p:cNvPr id="10" name="benefit-1-icon" descr="FaRuler">    </p:cNvPr>
          <p:cNvPicPr>
            <a:picLocks noChangeAspect="1"/>
          </p:cNvPicPr>
          <p:nvPr/>
        </p:nvPicPr>
        <p:blipFill>
          <a:blip r:embed="rId2"/>
          <a:stretch>
            <a:fillRect/>
          </a:stretch>
        </p:blipFill>
        <p:spPr>
          <a:xfrm>
            <a:off x="4844948" y="2045970"/>
            <a:ext cx="342900" cy="342900"/>
          </a:xfrm>
          <a:prstGeom prst="rect">
            <a:avLst/>
          </a:prstGeom>
        </p:spPr>
      </p:pic>
      <p:sp>
        <p:nvSpPr>
          <p:cNvPr id="11" name="Text 7"/>
          <p:cNvSpPr txBox="1"/>
          <p:nvPr/>
        </p:nvSpPr>
        <p:spPr>
          <a:xfrm>
            <a:off x="5542178" y="1938528"/>
            <a:ext cx="2021738" cy="548640"/>
          </a:xfrm>
          <a:prstGeom prst="rect">
            <a:avLst/>
          </a:prstGeom>
          <a:noFill/>
          <a:ln/>
        </p:spPr>
        <p:txBody>
          <a:bodyPr wrap="square" lIns="0" tIns="0" rIns="0" bIns="0" rtlCol="0" anchor="ctr"/>
          <a:lstStyle/>
          <a:p>
            <a:pPr indent="0" marL="0">
              <a:buNone/>
            </a:pPr>
            <a:r>
              <a:rPr lang="en-US" sz="2100" b="1" dirty="0">
                <a:solidFill>
                  <a:schemeClr val="tx2"/>
                </a:solidFill>
              </a:rPr>
              <a:t>Consistent</a:t>
            </a:r>
            <a:endParaRPr lang="en-US" sz="2100" dirty="0"/>
          </a:p>
        </p:txBody>
      </p:sp>
      <p:sp>
        <p:nvSpPr>
          <p:cNvPr id="12" name="Text 8"/>
          <p:cNvSpPr txBox="1"/>
          <p:nvPr/>
        </p:nvSpPr>
        <p:spPr>
          <a:xfrm>
            <a:off x="4673498" y="2697480"/>
            <a:ext cx="2844698" cy="731520"/>
          </a:xfrm>
          <a:prstGeom prst="rect">
            <a:avLst/>
          </a:prstGeom>
          <a:noFill/>
          <a:ln/>
        </p:spPr>
        <p:txBody>
          <a:bodyPr wrap="square" lIns="0" tIns="0" rIns="0" bIns="0" rtlCol="0" anchor="t"/>
          <a:lstStyle/>
          <a:p>
            <a:pPr indent="0" marL="0">
              <a:buNone/>
            </a:pPr>
            <a:r>
              <a:rPr lang="en-US" sz="1500" dirty="0">
                <a:solidFill>
                  <a:schemeClr val="tx1"/>
                </a:solidFill>
              </a:rPr>
              <a:t>Everyone follows the same steps, questions and standards.</a:t>
            </a:r>
            <a:endParaRPr lang="en-US" sz="1500" dirty="0"/>
          </a:p>
        </p:txBody>
      </p:sp>
      <p:sp>
        <p:nvSpPr>
          <p:cNvPr id="13" name="benefit-card-2"/>
          <p:cNvSpPr/>
          <p:nvPr/>
        </p:nvSpPr>
        <p:spPr>
          <a:xfrm>
            <a:off x="8158277" y="1554480"/>
            <a:ext cx="3484778" cy="1965960"/>
          </a:xfrm>
          <a:prstGeom prst="roundRect">
            <a:avLst>
              <a:gd name="adj" fmla="val 5581"/>
            </a:avLst>
          </a:prstGeom>
          <a:solidFill>
            <a:schemeClr val="bg2"/>
          </a:solidFill>
          <a:ln w="12700">
            <a:solidFill>
              <a:schemeClr val="bg2"/>
            </a:solidFill>
            <a:prstDash val="solid"/>
          </a:ln>
        </p:spPr>
      </p:sp>
      <p:sp>
        <p:nvSpPr>
          <p:cNvPr id="14" name="benefit-2-circle"/>
          <p:cNvSpPr/>
          <p:nvPr/>
        </p:nvSpPr>
        <p:spPr>
          <a:xfrm>
            <a:off x="8478317" y="1874520"/>
            <a:ext cx="685800" cy="685800"/>
          </a:xfrm>
          <a:prstGeom prst="ellipse">
            <a:avLst/>
          </a:prstGeom>
          <a:solidFill>
            <a:schemeClr val="accent1"/>
          </a:solidFill>
          <a:ln w="12700">
            <a:solidFill>
              <a:schemeClr val="accent1"/>
            </a:solidFill>
            <a:prstDash val="solid"/>
          </a:ln>
        </p:spPr>
      </p:sp>
      <p:pic>
        <p:nvPicPr>
          <p:cNvPr id="15" name="benefit-2-icon" descr="FaBinoculars">    </p:cNvPr>
          <p:cNvPicPr>
            <a:picLocks noChangeAspect="1"/>
          </p:cNvPicPr>
          <p:nvPr/>
        </p:nvPicPr>
        <p:blipFill>
          <a:blip r:embed="rId3"/>
          <a:stretch>
            <a:fillRect/>
          </a:stretch>
        </p:blipFill>
        <p:spPr>
          <a:xfrm>
            <a:off x="8649767" y="2045970"/>
            <a:ext cx="342900" cy="342900"/>
          </a:xfrm>
          <a:prstGeom prst="rect">
            <a:avLst/>
          </a:prstGeom>
        </p:spPr>
      </p:pic>
      <p:sp>
        <p:nvSpPr>
          <p:cNvPr id="16" name="Text 11"/>
          <p:cNvSpPr txBox="1"/>
          <p:nvPr/>
        </p:nvSpPr>
        <p:spPr>
          <a:xfrm>
            <a:off x="9346997" y="1938528"/>
            <a:ext cx="2021738" cy="548640"/>
          </a:xfrm>
          <a:prstGeom prst="rect">
            <a:avLst/>
          </a:prstGeom>
          <a:noFill/>
          <a:ln/>
        </p:spPr>
        <p:txBody>
          <a:bodyPr wrap="square" lIns="0" tIns="0" rIns="0" bIns="0" rtlCol="0" anchor="ctr"/>
          <a:lstStyle/>
          <a:p>
            <a:pPr indent="0" marL="0">
              <a:buNone/>
            </a:pPr>
            <a:r>
              <a:rPr lang="en-US" sz="2100" b="1" dirty="0">
                <a:solidFill>
                  <a:schemeClr val="tx2"/>
                </a:solidFill>
              </a:rPr>
              <a:t>Fewer surprises</a:t>
            </a:r>
            <a:endParaRPr lang="en-US" sz="2100" dirty="0"/>
          </a:p>
        </p:txBody>
      </p:sp>
      <p:sp>
        <p:nvSpPr>
          <p:cNvPr id="17" name="Text 12"/>
          <p:cNvSpPr txBox="1"/>
          <p:nvPr/>
        </p:nvSpPr>
        <p:spPr>
          <a:xfrm>
            <a:off x="8478317" y="2697480"/>
            <a:ext cx="2844698" cy="731520"/>
          </a:xfrm>
          <a:prstGeom prst="rect">
            <a:avLst/>
          </a:prstGeom>
          <a:noFill/>
          <a:ln/>
        </p:spPr>
        <p:txBody>
          <a:bodyPr wrap="square" lIns="0" tIns="0" rIns="0" bIns="0" rtlCol="0" anchor="t"/>
          <a:lstStyle/>
          <a:p>
            <a:pPr indent="0" marL="0">
              <a:buNone/>
            </a:pPr>
            <a:r>
              <a:rPr lang="en-US" sz="1500" dirty="0">
                <a:solidFill>
                  <a:schemeClr val="tx1"/>
                </a:solidFill>
              </a:rPr>
              <a:t>Gaps and risks are flagged early, not discovered mid-project.</a:t>
            </a:r>
            <a:endParaRPr lang="en-US" sz="1500" dirty="0"/>
          </a:p>
        </p:txBody>
      </p:sp>
      <p:sp>
        <p:nvSpPr>
          <p:cNvPr id="18" name="benefit-card-3"/>
          <p:cNvSpPr/>
          <p:nvPr/>
        </p:nvSpPr>
        <p:spPr>
          <a:xfrm>
            <a:off x="548640" y="3794760"/>
            <a:ext cx="3484778" cy="1965960"/>
          </a:xfrm>
          <a:prstGeom prst="roundRect">
            <a:avLst>
              <a:gd name="adj" fmla="val 5581"/>
            </a:avLst>
          </a:prstGeom>
          <a:solidFill>
            <a:schemeClr val="bg2"/>
          </a:solidFill>
          <a:ln w="12700">
            <a:solidFill>
              <a:schemeClr val="bg2"/>
            </a:solidFill>
            <a:prstDash val="solid"/>
          </a:ln>
        </p:spPr>
      </p:sp>
      <p:sp>
        <p:nvSpPr>
          <p:cNvPr id="19" name="benefit-3-circle"/>
          <p:cNvSpPr/>
          <p:nvPr/>
        </p:nvSpPr>
        <p:spPr>
          <a:xfrm>
            <a:off x="868680" y="4114800"/>
            <a:ext cx="685800" cy="685800"/>
          </a:xfrm>
          <a:prstGeom prst="ellipse">
            <a:avLst/>
          </a:prstGeom>
          <a:solidFill>
            <a:schemeClr val="accent2"/>
          </a:solidFill>
          <a:ln w="12700">
            <a:solidFill>
              <a:schemeClr val="accent2"/>
            </a:solidFill>
            <a:prstDash val="solid"/>
          </a:ln>
        </p:spPr>
      </p:sp>
      <p:pic>
        <p:nvPicPr>
          <p:cNvPr id="20" name="benefit-3-icon" descr="FaAward">    </p:cNvPr>
          <p:cNvPicPr>
            <a:picLocks noChangeAspect="1"/>
          </p:cNvPicPr>
          <p:nvPr/>
        </p:nvPicPr>
        <p:blipFill>
          <a:blip r:embed="rId4"/>
          <a:stretch>
            <a:fillRect/>
          </a:stretch>
        </p:blipFill>
        <p:spPr>
          <a:xfrm>
            <a:off x="1040130" y="4286250"/>
            <a:ext cx="342900" cy="342900"/>
          </a:xfrm>
          <a:prstGeom prst="rect">
            <a:avLst/>
          </a:prstGeom>
        </p:spPr>
      </p:pic>
      <p:sp>
        <p:nvSpPr>
          <p:cNvPr id="21" name="Text 15"/>
          <p:cNvSpPr txBox="1"/>
          <p:nvPr/>
        </p:nvSpPr>
        <p:spPr>
          <a:xfrm>
            <a:off x="1737360" y="4178808"/>
            <a:ext cx="2021738" cy="548640"/>
          </a:xfrm>
          <a:prstGeom prst="rect">
            <a:avLst/>
          </a:prstGeom>
          <a:noFill/>
          <a:ln/>
        </p:spPr>
        <p:txBody>
          <a:bodyPr wrap="square" lIns="0" tIns="0" rIns="0" bIns="0" rtlCol="0" anchor="ctr"/>
          <a:lstStyle/>
          <a:p>
            <a:pPr indent="0" marL="0">
              <a:buNone/>
            </a:pPr>
            <a:r>
              <a:rPr lang="en-US" sz="2100" b="1" dirty="0">
                <a:solidFill>
                  <a:schemeClr val="tx2"/>
                </a:solidFill>
              </a:rPr>
              <a:t>More professional</a:t>
            </a:r>
            <a:endParaRPr lang="en-US" sz="2100" dirty="0"/>
          </a:p>
        </p:txBody>
      </p:sp>
      <p:sp>
        <p:nvSpPr>
          <p:cNvPr id="22" name="Text 16"/>
          <p:cNvSpPr txBox="1"/>
          <p:nvPr/>
        </p:nvSpPr>
        <p:spPr>
          <a:xfrm>
            <a:off x="868680" y="4937760"/>
            <a:ext cx="2844698" cy="731520"/>
          </a:xfrm>
          <a:prstGeom prst="rect">
            <a:avLst/>
          </a:prstGeom>
          <a:noFill/>
          <a:ln/>
        </p:spPr>
        <p:txBody>
          <a:bodyPr wrap="square" lIns="0" tIns="0" rIns="0" bIns="0" rtlCol="0" anchor="t"/>
          <a:lstStyle/>
          <a:p>
            <a:pPr indent="0" marL="0">
              <a:buNone/>
            </a:pPr>
            <a:r>
              <a:rPr lang="en-US" sz="1500" dirty="0">
                <a:solidFill>
                  <a:schemeClr val="tx1"/>
                </a:solidFill>
              </a:rPr>
              <a:t>Polished, branded documents for every client.</a:t>
            </a:r>
            <a:endParaRPr lang="en-US" sz="1500" dirty="0"/>
          </a:p>
        </p:txBody>
      </p:sp>
      <p:sp>
        <p:nvSpPr>
          <p:cNvPr id="23" name="benefit-card-4"/>
          <p:cNvSpPr/>
          <p:nvPr/>
        </p:nvSpPr>
        <p:spPr>
          <a:xfrm>
            <a:off x="4353458" y="3794760"/>
            <a:ext cx="3484778" cy="1965960"/>
          </a:xfrm>
          <a:prstGeom prst="roundRect">
            <a:avLst>
              <a:gd name="adj" fmla="val 5581"/>
            </a:avLst>
          </a:prstGeom>
          <a:solidFill>
            <a:schemeClr val="bg2"/>
          </a:solidFill>
          <a:ln w="12700">
            <a:solidFill>
              <a:schemeClr val="bg2"/>
            </a:solidFill>
            <a:prstDash val="solid"/>
          </a:ln>
        </p:spPr>
      </p:sp>
      <p:sp>
        <p:nvSpPr>
          <p:cNvPr id="24" name="benefit-4-circle"/>
          <p:cNvSpPr/>
          <p:nvPr/>
        </p:nvSpPr>
        <p:spPr>
          <a:xfrm>
            <a:off x="4673498" y="4114800"/>
            <a:ext cx="685800" cy="685800"/>
          </a:xfrm>
          <a:prstGeom prst="ellipse">
            <a:avLst/>
          </a:prstGeom>
          <a:solidFill>
            <a:schemeClr val="accent1"/>
          </a:solidFill>
          <a:ln w="12700">
            <a:solidFill>
              <a:schemeClr val="accent1"/>
            </a:solidFill>
            <a:prstDash val="solid"/>
          </a:ln>
        </p:spPr>
      </p:sp>
      <p:pic>
        <p:nvPicPr>
          <p:cNvPr id="25" name="benefit-4-icon" descr="FaHandshake">    </p:cNvPr>
          <p:cNvPicPr>
            <a:picLocks noChangeAspect="1"/>
          </p:cNvPicPr>
          <p:nvPr/>
        </p:nvPicPr>
        <p:blipFill>
          <a:blip r:embed="rId5"/>
          <a:stretch>
            <a:fillRect/>
          </a:stretch>
        </p:blipFill>
        <p:spPr>
          <a:xfrm>
            <a:off x="4844948" y="4286250"/>
            <a:ext cx="342900" cy="342900"/>
          </a:xfrm>
          <a:prstGeom prst="rect">
            <a:avLst/>
          </a:prstGeom>
        </p:spPr>
      </p:pic>
      <p:sp>
        <p:nvSpPr>
          <p:cNvPr id="26" name="Text 19"/>
          <p:cNvSpPr txBox="1"/>
          <p:nvPr/>
        </p:nvSpPr>
        <p:spPr>
          <a:xfrm>
            <a:off x="5542178" y="4178808"/>
            <a:ext cx="2021738" cy="548640"/>
          </a:xfrm>
          <a:prstGeom prst="rect">
            <a:avLst/>
          </a:prstGeom>
          <a:noFill/>
          <a:ln/>
        </p:spPr>
        <p:txBody>
          <a:bodyPr wrap="square" lIns="0" tIns="0" rIns="0" bIns="0" rtlCol="0" anchor="ctr"/>
          <a:lstStyle/>
          <a:p>
            <a:pPr indent="0" marL="0">
              <a:buNone/>
            </a:pPr>
            <a:r>
              <a:rPr lang="en-US" sz="2100" b="1" dirty="0">
                <a:solidFill>
                  <a:schemeClr val="tx2"/>
                </a:solidFill>
              </a:rPr>
              <a:t>Clear hand-offs</a:t>
            </a:r>
            <a:endParaRPr lang="en-US" sz="2100" dirty="0"/>
          </a:p>
        </p:txBody>
      </p:sp>
      <p:sp>
        <p:nvSpPr>
          <p:cNvPr id="27" name="Text 20"/>
          <p:cNvSpPr txBox="1"/>
          <p:nvPr/>
        </p:nvSpPr>
        <p:spPr>
          <a:xfrm>
            <a:off x="4673498" y="4937760"/>
            <a:ext cx="2844698" cy="731520"/>
          </a:xfrm>
          <a:prstGeom prst="rect">
            <a:avLst/>
          </a:prstGeom>
          <a:noFill/>
          <a:ln/>
        </p:spPr>
        <p:txBody>
          <a:bodyPr wrap="square" lIns="0" tIns="0" rIns="0" bIns="0" rtlCol="0" anchor="t"/>
          <a:lstStyle/>
          <a:p>
            <a:pPr indent="0" marL="0">
              <a:buNone/>
            </a:pPr>
            <a:r>
              <a:rPr lang="en-US" sz="1500" dirty="0">
                <a:solidFill>
                  <a:schemeClr val="tx1"/>
                </a:solidFill>
              </a:rPr>
              <a:t>Sales, consultants and implementation share one picture.</a:t>
            </a:r>
            <a:endParaRPr lang="en-US" sz="1500" dirty="0"/>
          </a:p>
        </p:txBody>
      </p:sp>
      <p:sp>
        <p:nvSpPr>
          <p:cNvPr id="28" name="benefit-card-5"/>
          <p:cNvSpPr/>
          <p:nvPr/>
        </p:nvSpPr>
        <p:spPr>
          <a:xfrm>
            <a:off x="8158277" y="3794760"/>
            <a:ext cx="3484778" cy="1965960"/>
          </a:xfrm>
          <a:prstGeom prst="roundRect">
            <a:avLst>
              <a:gd name="adj" fmla="val 5581"/>
            </a:avLst>
          </a:prstGeom>
          <a:solidFill>
            <a:schemeClr val="bg2"/>
          </a:solidFill>
          <a:ln w="12700">
            <a:solidFill>
              <a:schemeClr val="bg2"/>
            </a:solidFill>
            <a:prstDash val="solid"/>
          </a:ln>
        </p:spPr>
      </p:sp>
      <p:sp>
        <p:nvSpPr>
          <p:cNvPr id="29" name="benefit-5-circle"/>
          <p:cNvSpPr/>
          <p:nvPr/>
        </p:nvSpPr>
        <p:spPr>
          <a:xfrm>
            <a:off x="8478317" y="4114800"/>
            <a:ext cx="685800" cy="685800"/>
          </a:xfrm>
          <a:prstGeom prst="ellipse">
            <a:avLst/>
          </a:prstGeom>
          <a:solidFill>
            <a:schemeClr val="accent2"/>
          </a:solidFill>
          <a:ln w="12700">
            <a:solidFill>
              <a:schemeClr val="accent2"/>
            </a:solidFill>
            <a:prstDash val="solid"/>
          </a:ln>
        </p:spPr>
      </p:sp>
      <p:pic>
        <p:nvPicPr>
          <p:cNvPr id="30" name="benefit-5-icon" descr="FaBrain">    </p:cNvPr>
          <p:cNvPicPr>
            <a:picLocks noChangeAspect="1"/>
          </p:cNvPicPr>
          <p:nvPr/>
        </p:nvPicPr>
        <p:blipFill>
          <a:blip r:embed="rId6"/>
          <a:stretch>
            <a:fillRect/>
          </a:stretch>
        </p:blipFill>
        <p:spPr>
          <a:xfrm>
            <a:off x="8649767" y="4286250"/>
            <a:ext cx="342900" cy="342900"/>
          </a:xfrm>
          <a:prstGeom prst="rect">
            <a:avLst/>
          </a:prstGeom>
        </p:spPr>
      </p:pic>
      <p:sp>
        <p:nvSpPr>
          <p:cNvPr id="31" name="Text 23"/>
          <p:cNvSpPr txBox="1"/>
          <p:nvPr/>
        </p:nvSpPr>
        <p:spPr>
          <a:xfrm>
            <a:off x="9346997" y="4178808"/>
            <a:ext cx="2021738" cy="548640"/>
          </a:xfrm>
          <a:prstGeom prst="rect">
            <a:avLst/>
          </a:prstGeom>
          <a:noFill/>
          <a:ln/>
        </p:spPr>
        <p:txBody>
          <a:bodyPr wrap="square" lIns="0" tIns="0" rIns="0" bIns="0" rtlCol="0" anchor="ctr"/>
          <a:lstStyle/>
          <a:p>
            <a:pPr indent="0" marL="0">
              <a:buNone/>
            </a:pPr>
            <a:r>
              <a:rPr lang="en-US" sz="2100" b="1" dirty="0">
                <a:solidFill>
                  <a:schemeClr val="tx2"/>
                </a:solidFill>
              </a:rPr>
              <a:t>Knowledge stays</a:t>
            </a:r>
            <a:endParaRPr lang="en-US" sz="2100" dirty="0"/>
          </a:p>
        </p:txBody>
      </p:sp>
      <p:sp>
        <p:nvSpPr>
          <p:cNvPr id="32" name="Text 24"/>
          <p:cNvSpPr txBox="1"/>
          <p:nvPr/>
        </p:nvSpPr>
        <p:spPr>
          <a:xfrm>
            <a:off x="8478317" y="4937760"/>
            <a:ext cx="2844698" cy="731520"/>
          </a:xfrm>
          <a:prstGeom prst="rect">
            <a:avLst/>
          </a:prstGeom>
          <a:noFill/>
          <a:ln/>
        </p:spPr>
        <p:txBody>
          <a:bodyPr wrap="square" lIns="0" tIns="0" rIns="0" bIns="0" rtlCol="0" anchor="t"/>
          <a:lstStyle/>
          <a:p>
            <a:pPr indent="0" marL="0">
              <a:buNone/>
            </a:pPr>
            <a:r>
              <a:rPr lang="en-US" sz="1500" dirty="0">
                <a:solidFill>
                  <a:schemeClr val="tx1"/>
                </a:solidFill>
              </a:rPr>
              <a:t>Our best practices live in the tool, not in one person's head.</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Safe by design</a:t>
            </a:r>
            <a:endParaRPr lang="en-US" sz="3400" dirty="0"/>
          </a:p>
        </p:txBody>
      </p:sp>
      <p:sp>
        <p:nvSpPr>
          <p:cNvPr id="3" name="safe-shield-circle"/>
          <p:cNvSpPr/>
          <p:nvPr/>
        </p:nvSpPr>
        <p:spPr>
          <a:xfrm>
            <a:off x="1097280" y="2011680"/>
            <a:ext cx="2743200" cy="2743200"/>
          </a:xfrm>
          <a:prstGeom prst="ellipse">
            <a:avLst/>
          </a:prstGeom>
          <a:solidFill>
            <a:schemeClr val="accent1"/>
          </a:solidFill>
          <a:ln w="12700">
            <a:solidFill>
              <a:schemeClr val="accent1"/>
            </a:solidFill>
            <a:prstDash val="solid"/>
          </a:ln>
        </p:spPr>
      </p:sp>
      <p:pic>
        <p:nvPicPr>
          <p:cNvPr id="4" name="safe-shield-icon" descr="FaShieldHalved">    </p:cNvPr>
          <p:cNvPicPr>
            <a:picLocks noChangeAspect="1"/>
          </p:cNvPicPr>
          <p:nvPr/>
        </p:nvPicPr>
        <p:blipFill>
          <a:blip r:embed="rId1"/>
          <a:stretch>
            <a:fillRect/>
          </a:stretch>
        </p:blipFill>
        <p:spPr>
          <a:xfrm>
            <a:off x="1783080" y="2697480"/>
            <a:ext cx="1371600" cy="1371600"/>
          </a:xfrm>
          <a:prstGeom prst="rect">
            <a:avLst/>
          </a:prstGeom>
        </p:spPr>
      </p:pic>
      <p:sp>
        <p:nvSpPr>
          <p:cNvPr id="5" name="Text 2"/>
          <p:cNvSpPr txBox="1"/>
          <p:nvPr/>
        </p:nvSpPr>
        <p:spPr>
          <a:xfrm>
            <a:off x="685800" y="4983480"/>
            <a:ext cx="3566160" cy="548640"/>
          </a:xfrm>
          <a:prstGeom prst="rect">
            <a:avLst/>
          </a:prstGeom>
          <a:noFill/>
          <a:ln/>
        </p:spPr>
        <p:txBody>
          <a:bodyPr wrap="square" lIns="0" tIns="0" rIns="0" bIns="0" rtlCol="0" anchor="t"/>
          <a:lstStyle/>
          <a:p>
            <a:pPr algn="ctr" indent="0" marL="0">
              <a:buNone/>
            </a:pPr>
            <a:r>
              <a:rPr lang="en-US" sz="1600" i="1" dirty="0">
                <a:solidFill>
                  <a:schemeClr val="accent6"/>
                </a:solidFill>
              </a:rPr>
              <a:t>Clients can trust it, and so can we</a:t>
            </a:r>
            <a:endParaRPr lang="en-US" sz="1600" dirty="0"/>
          </a:p>
        </p:txBody>
      </p:sp>
      <p:sp>
        <p:nvSpPr>
          <p:cNvPr id="6" name="safe-card-0"/>
          <p:cNvSpPr/>
          <p:nvPr/>
        </p:nvSpPr>
        <p:spPr>
          <a:xfrm>
            <a:off x="4892040" y="1600200"/>
            <a:ext cx="6751015" cy="1234440"/>
          </a:xfrm>
          <a:prstGeom prst="roundRect">
            <a:avLst>
              <a:gd name="adj" fmla="val 8889"/>
            </a:avLst>
          </a:prstGeom>
          <a:solidFill>
            <a:schemeClr val="bg2"/>
          </a:solidFill>
          <a:ln w="12700">
            <a:solidFill>
              <a:schemeClr val="bg2"/>
            </a:solidFill>
            <a:prstDash val="solid"/>
          </a:ln>
        </p:spPr>
      </p:sp>
      <p:sp>
        <p:nvSpPr>
          <p:cNvPr id="7" name="Text 4"/>
          <p:cNvSpPr txBox="1"/>
          <p:nvPr/>
        </p:nvSpPr>
        <p:spPr>
          <a:xfrm>
            <a:off x="5212080" y="1764792"/>
            <a:ext cx="6110935" cy="411480"/>
          </a:xfrm>
          <a:prstGeom prst="rect">
            <a:avLst/>
          </a:prstGeom>
          <a:noFill/>
          <a:ln/>
        </p:spPr>
        <p:txBody>
          <a:bodyPr wrap="square" lIns="0" tIns="0" rIns="0" bIns="0" rtlCol="0" anchor="t"/>
          <a:lstStyle/>
          <a:p>
            <a:pPr indent="0" marL="0">
              <a:buNone/>
            </a:pPr>
            <a:r>
              <a:rPr lang="en-US" sz="2000" b="1" dirty="0">
                <a:solidFill>
                  <a:schemeClr val="tx2"/>
                </a:solidFill>
              </a:rPr>
              <a:t>Read-only, always</a:t>
            </a:r>
            <a:endParaRPr lang="en-US" sz="2000" dirty="0"/>
          </a:p>
        </p:txBody>
      </p:sp>
      <p:sp>
        <p:nvSpPr>
          <p:cNvPr id="8" name="Text 5"/>
          <p:cNvSpPr txBox="1"/>
          <p:nvPr/>
        </p:nvSpPr>
        <p:spPr>
          <a:xfrm>
            <a:off x="5212080" y="2176272"/>
            <a:ext cx="6110935" cy="594360"/>
          </a:xfrm>
          <a:prstGeom prst="rect">
            <a:avLst/>
          </a:prstGeom>
          <a:noFill/>
          <a:ln/>
        </p:spPr>
        <p:txBody>
          <a:bodyPr wrap="square" lIns="0" tIns="0" rIns="0" bIns="0" rtlCol="0" anchor="t"/>
          <a:lstStyle/>
          <a:p>
            <a:pPr indent="0" marL="0">
              <a:buNone/>
            </a:pPr>
            <a:r>
              <a:rPr lang="en-US" sz="1500" dirty="0">
                <a:solidFill>
                  <a:schemeClr val="tx1"/>
                </a:solidFill>
              </a:rPr>
              <a:t>It looks at a client's HubSpot but can never change or delete anything. This is built into the code and tested automatically.</a:t>
            </a:r>
            <a:endParaRPr lang="en-US" sz="1500" dirty="0"/>
          </a:p>
        </p:txBody>
      </p:sp>
      <p:sp>
        <p:nvSpPr>
          <p:cNvPr id="9" name="safe-card-1"/>
          <p:cNvSpPr/>
          <p:nvPr/>
        </p:nvSpPr>
        <p:spPr>
          <a:xfrm>
            <a:off x="4892040" y="3063240"/>
            <a:ext cx="6751015" cy="1234440"/>
          </a:xfrm>
          <a:prstGeom prst="roundRect">
            <a:avLst>
              <a:gd name="adj" fmla="val 8889"/>
            </a:avLst>
          </a:prstGeom>
          <a:solidFill>
            <a:schemeClr val="bg2"/>
          </a:solidFill>
          <a:ln w="12700">
            <a:solidFill>
              <a:schemeClr val="bg2"/>
            </a:solidFill>
            <a:prstDash val="solid"/>
          </a:ln>
        </p:spPr>
      </p:sp>
      <p:sp>
        <p:nvSpPr>
          <p:cNvPr id="10" name="Text 7"/>
          <p:cNvSpPr txBox="1"/>
          <p:nvPr/>
        </p:nvSpPr>
        <p:spPr>
          <a:xfrm>
            <a:off x="5212080" y="3227832"/>
            <a:ext cx="6110935" cy="411480"/>
          </a:xfrm>
          <a:prstGeom prst="rect">
            <a:avLst/>
          </a:prstGeom>
          <a:noFill/>
          <a:ln/>
        </p:spPr>
        <p:txBody>
          <a:bodyPr wrap="square" lIns="0" tIns="0" rIns="0" bIns="0" rtlCol="0" anchor="t"/>
          <a:lstStyle/>
          <a:p>
            <a:pPr indent="0" marL="0">
              <a:buNone/>
            </a:pPr>
            <a:r>
              <a:rPr lang="en-US" sz="2000" b="1" dirty="0">
                <a:solidFill>
                  <a:schemeClr val="tx2"/>
                </a:solidFill>
              </a:rPr>
              <a:t>AI helps, people decide</a:t>
            </a:r>
            <a:endParaRPr lang="en-US" sz="2000" dirty="0"/>
          </a:p>
        </p:txBody>
      </p:sp>
      <p:sp>
        <p:nvSpPr>
          <p:cNvPr id="11" name="Text 8"/>
          <p:cNvSpPr txBox="1"/>
          <p:nvPr/>
        </p:nvSpPr>
        <p:spPr>
          <a:xfrm>
            <a:off x="5212080" y="3639312"/>
            <a:ext cx="6110935" cy="594360"/>
          </a:xfrm>
          <a:prstGeom prst="rect">
            <a:avLst/>
          </a:prstGeom>
          <a:noFill/>
          <a:ln/>
        </p:spPr>
        <p:txBody>
          <a:bodyPr wrap="square" lIns="0" tIns="0" rIns="0" bIns="0" rtlCol="0" anchor="t"/>
          <a:lstStyle/>
          <a:p>
            <a:pPr indent="0" marL="0">
              <a:buNone/>
            </a:pPr>
            <a:r>
              <a:rPr lang="en-US" sz="1500" dirty="0">
                <a:solidFill>
                  <a:schemeClr val="tx1"/>
                </a:solidFill>
              </a:rPr>
              <a:t>The AI never invents facts. Anything we didn't capture becomes a follow-up question.</a:t>
            </a:r>
            <a:endParaRPr lang="en-US" sz="1500" dirty="0"/>
          </a:p>
        </p:txBody>
      </p:sp>
      <p:sp>
        <p:nvSpPr>
          <p:cNvPr id="12" name="safe-card-2"/>
          <p:cNvSpPr/>
          <p:nvPr/>
        </p:nvSpPr>
        <p:spPr>
          <a:xfrm>
            <a:off x="4892040" y="4526280"/>
            <a:ext cx="6751015" cy="1234440"/>
          </a:xfrm>
          <a:prstGeom prst="roundRect">
            <a:avLst>
              <a:gd name="adj" fmla="val 8889"/>
            </a:avLst>
          </a:prstGeom>
          <a:solidFill>
            <a:schemeClr val="bg2"/>
          </a:solidFill>
          <a:ln w="12700">
            <a:solidFill>
              <a:schemeClr val="bg2"/>
            </a:solidFill>
            <a:prstDash val="solid"/>
          </a:ln>
        </p:spPr>
      </p:sp>
      <p:sp>
        <p:nvSpPr>
          <p:cNvPr id="13" name="Text 10"/>
          <p:cNvSpPr txBox="1"/>
          <p:nvPr/>
        </p:nvSpPr>
        <p:spPr>
          <a:xfrm>
            <a:off x="5212080" y="4690872"/>
            <a:ext cx="6110935" cy="411480"/>
          </a:xfrm>
          <a:prstGeom prst="rect">
            <a:avLst/>
          </a:prstGeom>
          <a:noFill/>
          <a:ln/>
        </p:spPr>
        <p:txBody>
          <a:bodyPr wrap="square" lIns="0" tIns="0" rIns="0" bIns="0" rtlCol="0" anchor="t"/>
          <a:lstStyle/>
          <a:p>
            <a:pPr indent="0" marL="0">
              <a:buNone/>
            </a:pPr>
            <a:r>
              <a:rPr lang="en-US" sz="2000" b="1" dirty="0">
                <a:solidFill>
                  <a:schemeClr val="tx2"/>
                </a:solidFill>
              </a:rPr>
              <a:t>You stay in control</a:t>
            </a:r>
            <a:endParaRPr lang="en-US" sz="2000" dirty="0"/>
          </a:p>
        </p:txBody>
      </p:sp>
      <p:sp>
        <p:nvSpPr>
          <p:cNvPr id="14" name="Text 11"/>
          <p:cNvSpPr txBox="1"/>
          <p:nvPr/>
        </p:nvSpPr>
        <p:spPr>
          <a:xfrm>
            <a:off x="5212080" y="5102352"/>
            <a:ext cx="6110935" cy="594360"/>
          </a:xfrm>
          <a:prstGeom prst="rect">
            <a:avLst/>
          </a:prstGeom>
          <a:noFill/>
          <a:ln/>
        </p:spPr>
        <p:txBody>
          <a:bodyPr wrap="square" lIns="0" tIns="0" rIns="0" bIns="0" rtlCol="0" anchor="t"/>
          <a:lstStyle/>
          <a:p>
            <a:pPr indent="0" marL="0">
              <a:buNone/>
            </a:pPr>
            <a:r>
              <a:rPr lang="en-US" sz="1500" dirty="0">
                <a:solidFill>
                  <a:schemeClr val="tx1"/>
                </a:solidFill>
              </a:rPr>
              <a:t>Every document can be reviewed and edited before it goes to a client.</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How to use it on a project</a:t>
            </a:r>
            <a:endParaRPr lang="en-US" sz="3400" dirty="0"/>
          </a:p>
        </p:txBody>
      </p:sp>
      <p:sp>
        <p:nvSpPr>
          <p:cNvPr id="3" name="how-line"/>
          <p:cNvSpPr/>
          <p:nvPr/>
        </p:nvSpPr>
        <p:spPr>
          <a:xfrm>
            <a:off x="1473175" y="2240280"/>
            <a:ext cx="9245346" cy="0"/>
          </a:xfrm>
          <a:prstGeom prst="line">
            <a:avLst/>
          </a:prstGeom>
          <a:noFill/>
          <a:ln w="38100">
            <a:solidFill>
              <a:srgbClr val="DED9F2"/>
            </a:solidFill>
            <a:prstDash val="solid"/>
          </a:ln>
        </p:spPr>
      </p:sp>
      <p:sp>
        <p:nvSpPr>
          <p:cNvPr id="4" name="how-num-0"/>
          <p:cNvSpPr/>
          <p:nvPr/>
        </p:nvSpPr>
        <p:spPr>
          <a:xfrm>
            <a:off x="1015975" y="1783080"/>
            <a:ext cx="914400" cy="914400"/>
          </a:xfrm>
          <a:prstGeom prst="ellipse">
            <a:avLst/>
          </a:prstGeom>
          <a:solidFill>
            <a:schemeClr val="accent1"/>
          </a:solidFill>
          <a:ln w="38100">
            <a:solidFill>
              <a:srgbClr val="FFFFFF"/>
            </a:solidFill>
            <a:prstDash val="solid"/>
          </a:ln>
        </p:spPr>
      </p:sp>
      <p:sp>
        <p:nvSpPr>
          <p:cNvPr id="5" name="Text 3"/>
          <p:cNvSpPr txBox="1"/>
          <p:nvPr/>
        </p:nvSpPr>
        <p:spPr>
          <a:xfrm>
            <a:off x="1015975" y="1783080"/>
            <a:ext cx="914400" cy="91440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6" name="how-card-0"/>
          <p:cNvSpPr/>
          <p:nvPr/>
        </p:nvSpPr>
        <p:spPr>
          <a:xfrm>
            <a:off x="621792" y="3063240"/>
            <a:ext cx="1702765" cy="2743200"/>
          </a:xfrm>
          <a:prstGeom prst="roundRect">
            <a:avLst>
              <a:gd name="adj" fmla="val 6444"/>
            </a:avLst>
          </a:prstGeom>
          <a:solidFill>
            <a:schemeClr val="bg2"/>
          </a:solidFill>
          <a:ln w="12700">
            <a:solidFill>
              <a:schemeClr val="bg2"/>
            </a:solidFill>
            <a:prstDash val="solid"/>
          </a:ln>
        </p:spPr>
      </p:sp>
      <p:sp>
        <p:nvSpPr>
          <p:cNvPr id="7" name="Text 5"/>
          <p:cNvSpPr txBox="1"/>
          <p:nvPr/>
        </p:nvSpPr>
        <p:spPr>
          <a:xfrm>
            <a:off x="777240" y="3291840"/>
            <a:ext cx="1391869" cy="777240"/>
          </a:xfrm>
          <a:prstGeom prst="rect">
            <a:avLst/>
          </a:prstGeom>
          <a:noFill/>
          <a:ln/>
        </p:spPr>
        <p:txBody>
          <a:bodyPr wrap="square" lIns="0" tIns="0" rIns="0" bIns="0" rtlCol="0" anchor="t"/>
          <a:lstStyle/>
          <a:p>
            <a:pPr algn="ctr" indent="0" marL="0">
              <a:buNone/>
            </a:pPr>
            <a:r>
              <a:rPr lang="en-US" sz="1800" b="1" dirty="0">
                <a:solidFill>
                  <a:schemeClr val="tx2"/>
                </a:solidFill>
              </a:rPr>
              <a:t>Open the app</a:t>
            </a:r>
            <a:endParaRPr lang="en-US" sz="1800" dirty="0"/>
          </a:p>
        </p:txBody>
      </p:sp>
      <p:sp>
        <p:nvSpPr>
          <p:cNvPr id="8" name="Text 6"/>
          <p:cNvSpPr txBox="1"/>
          <p:nvPr/>
        </p:nvSpPr>
        <p:spPr>
          <a:xfrm>
            <a:off x="777240" y="4114800"/>
            <a:ext cx="1391869" cy="1554480"/>
          </a:xfrm>
          <a:prstGeom prst="rect">
            <a:avLst/>
          </a:prstGeom>
          <a:noFill/>
          <a:ln/>
        </p:spPr>
        <p:txBody>
          <a:bodyPr wrap="square" lIns="0" tIns="0" rIns="0" bIns="0" rtlCol="0" anchor="t"/>
          <a:lstStyle/>
          <a:p>
            <a:pPr algn="ctr" indent="0" marL="0">
              <a:buNone/>
            </a:pPr>
            <a:r>
              <a:rPr lang="en-US" sz="1500" dirty="0">
                <a:solidFill>
                  <a:schemeClr val="tx1"/>
                </a:solidFill>
              </a:rPr>
              <a:t>Name the client and their type of business.</a:t>
            </a:r>
            <a:endParaRPr lang="en-US" sz="1500" dirty="0"/>
          </a:p>
        </p:txBody>
      </p:sp>
      <p:sp>
        <p:nvSpPr>
          <p:cNvPr id="9" name="how-num-1"/>
          <p:cNvSpPr/>
          <p:nvPr/>
        </p:nvSpPr>
        <p:spPr>
          <a:xfrm>
            <a:off x="2865044" y="1783080"/>
            <a:ext cx="914400" cy="914400"/>
          </a:xfrm>
          <a:prstGeom prst="ellipse">
            <a:avLst/>
          </a:prstGeom>
          <a:solidFill>
            <a:schemeClr val="accent2"/>
          </a:solidFill>
          <a:ln w="38100">
            <a:solidFill>
              <a:srgbClr val="FFFFFF"/>
            </a:solidFill>
            <a:prstDash val="solid"/>
          </a:ln>
        </p:spPr>
      </p:sp>
      <p:sp>
        <p:nvSpPr>
          <p:cNvPr id="10" name="Text 8"/>
          <p:cNvSpPr txBox="1"/>
          <p:nvPr/>
        </p:nvSpPr>
        <p:spPr>
          <a:xfrm>
            <a:off x="2865044" y="1783080"/>
            <a:ext cx="914400" cy="91440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how-card-1"/>
          <p:cNvSpPr/>
          <p:nvPr/>
        </p:nvSpPr>
        <p:spPr>
          <a:xfrm>
            <a:off x="2470861" y="3063240"/>
            <a:ext cx="1702765" cy="2743200"/>
          </a:xfrm>
          <a:prstGeom prst="roundRect">
            <a:avLst>
              <a:gd name="adj" fmla="val 6444"/>
            </a:avLst>
          </a:prstGeom>
          <a:solidFill>
            <a:schemeClr val="bg2"/>
          </a:solidFill>
          <a:ln w="12700">
            <a:solidFill>
              <a:schemeClr val="bg2"/>
            </a:solidFill>
            <a:prstDash val="solid"/>
          </a:ln>
        </p:spPr>
      </p:sp>
      <p:sp>
        <p:nvSpPr>
          <p:cNvPr id="12" name="Text 10"/>
          <p:cNvSpPr txBox="1"/>
          <p:nvPr/>
        </p:nvSpPr>
        <p:spPr>
          <a:xfrm>
            <a:off x="2626309" y="3291840"/>
            <a:ext cx="1391869" cy="777240"/>
          </a:xfrm>
          <a:prstGeom prst="rect">
            <a:avLst/>
          </a:prstGeom>
          <a:noFill/>
          <a:ln/>
        </p:spPr>
        <p:txBody>
          <a:bodyPr wrap="square" lIns="0" tIns="0" rIns="0" bIns="0" rtlCol="0" anchor="t"/>
          <a:lstStyle/>
          <a:p>
            <a:pPr algn="ctr" indent="0" marL="0">
              <a:buNone/>
            </a:pPr>
            <a:r>
              <a:rPr lang="en-US" sz="1800" b="1" dirty="0">
                <a:solidFill>
                  <a:schemeClr val="tx2"/>
                </a:solidFill>
              </a:rPr>
              <a:t>Run the call</a:t>
            </a:r>
            <a:endParaRPr lang="en-US" sz="1800" dirty="0"/>
          </a:p>
        </p:txBody>
      </p:sp>
      <p:sp>
        <p:nvSpPr>
          <p:cNvPr id="13" name="Text 11"/>
          <p:cNvSpPr txBox="1"/>
          <p:nvPr/>
        </p:nvSpPr>
        <p:spPr>
          <a:xfrm>
            <a:off x="2626309" y="4114800"/>
            <a:ext cx="1391869" cy="1554480"/>
          </a:xfrm>
          <a:prstGeom prst="rect">
            <a:avLst/>
          </a:prstGeom>
          <a:noFill/>
          <a:ln/>
        </p:spPr>
        <p:txBody>
          <a:bodyPr wrap="square" lIns="0" tIns="0" rIns="0" bIns="0" rtlCol="0" anchor="t"/>
          <a:lstStyle/>
          <a:p>
            <a:pPr algn="ctr" indent="0" marL="0">
              <a:buNone/>
            </a:pPr>
            <a:r>
              <a:rPr lang="en-US" sz="1500" dirty="0">
                <a:solidFill>
                  <a:schemeClr val="tx1"/>
                </a:solidFill>
              </a:rPr>
              <a:t>Answer the guided questions and flag what to revisit.</a:t>
            </a:r>
            <a:endParaRPr lang="en-US" sz="1500" dirty="0"/>
          </a:p>
        </p:txBody>
      </p:sp>
      <p:sp>
        <p:nvSpPr>
          <p:cNvPr id="14" name="how-num-2"/>
          <p:cNvSpPr/>
          <p:nvPr/>
        </p:nvSpPr>
        <p:spPr>
          <a:xfrm>
            <a:off x="4714113" y="1783080"/>
            <a:ext cx="914400" cy="914400"/>
          </a:xfrm>
          <a:prstGeom prst="ellipse">
            <a:avLst/>
          </a:prstGeom>
          <a:solidFill>
            <a:schemeClr val="accent1"/>
          </a:solidFill>
          <a:ln w="38100">
            <a:solidFill>
              <a:srgbClr val="FFFFFF"/>
            </a:solidFill>
            <a:prstDash val="solid"/>
          </a:ln>
        </p:spPr>
      </p:sp>
      <p:sp>
        <p:nvSpPr>
          <p:cNvPr id="15" name="Text 13"/>
          <p:cNvSpPr txBox="1"/>
          <p:nvPr/>
        </p:nvSpPr>
        <p:spPr>
          <a:xfrm>
            <a:off x="4714113" y="1783080"/>
            <a:ext cx="914400" cy="91440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6" name="how-card-2"/>
          <p:cNvSpPr/>
          <p:nvPr/>
        </p:nvSpPr>
        <p:spPr>
          <a:xfrm>
            <a:off x="4319930" y="3063240"/>
            <a:ext cx="1702765" cy="2743200"/>
          </a:xfrm>
          <a:prstGeom prst="roundRect">
            <a:avLst>
              <a:gd name="adj" fmla="val 6444"/>
            </a:avLst>
          </a:prstGeom>
          <a:solidFill>
            <a:schemeClr val="bg2"/>
          </a:solidFill>
          <a:ln w="12700">
            <a:solidFill>
              <a:schemeClr val="bg2"/>
            </a:solidFill>
            <a:prstDash val="solid"/>
          </a:ln>
        </p:spPr>
      </p:sp>
      <p:sp>
        <p:nvSpPr>
          <p:cNvPr id="17" name="Text 15"/>
          <p:cNvSpPr txBox="1"/>
          <p:nvPr/>
        </p:nvSpPr>
        <p:spPr>
          <a:xfrm>
            <a:off x="4475378" y="3291840"/>
            <a:ext cx="1391869" cy="777240"/>
          </a:xfrm>
          <a:prstGeom prst="rect">
            <a:avLst/>
          </a:prstGeom>
          <a:noFill/>
          <a:ln/>
        </p:spPr>
        <p:txBody>
          <a:bodyPr wrap="square" lIns="0" tIns="0" rIns="0" bIns="0" rtlCol="0" anchor="t"/>
          <a:lstStyle/>
          <a:p>
            <a:pPr algn="ctr" indent="0" marL="0">
              <a:buNone/>
            </a:pPr>
            <a:r>
              <a:rPr lang="en-US" sz="1800" b="1" dirty="0">
                <a:solidFill>
                  <a:schemeClr val="tx2"/>
                </a:solidFill>
              </a:rPr>
              <a:t>Generate</a:t>
            </a:r>
            <a:endParaRPr lang="en-US" sz="1800" dirty="0"/>
          </a:p>
        </p:txBody>
      </p:sp>
      <p:sp>
        <p:nvSpPr>
          <p:cNvPr id="18" name="Text 16"/>
          <p:cNvSpPr txBox="1"/>
          <p:nvPr/>
        </p:nvSpPr>
        <p:spPr>
          <a:xfrm>
            <a:off x="4475378" y="4114800"/>
            <a:ext cx="1391869" cy="1554480"/>
          </a:xfrm>
          <a:prstGeom prst="rect">
            <a:avLst/>
          </a:prstGeom>
          <a:noFill/>
          <a:ln/>
        </p:spPr>
        <p:txBody>
          <a:bodyPr wrap="square" lIns="0" tIns="0" rIns="0" bIns="0" rtlCol="0" anchor="t"/>
          <a:lstStyle/>
          <a:p>
            <a:pPr algn="ctr" indent="0" marL="0">
              <a:buNone/>
            </a:pPr>
            <a:r>
              <a:rPr lang="en-US" sz="1500" dirty="0">
                <a:solidFill>
                  <a:schemeClr val="tx1"/>
                </a:solidFill>
              </a:rPr>
              <a:t>Get the business analysis and the client explainer.</a:t>
            </a:r>
            <a:endParaRPr lang="en-US" sz="1500" dirty="0"/>
          </a:p>
        </p:txBody>
      </p:sp>
      <p:sp>
        <p:nvSpPr>
          <p:cNvPr id="19" name="how-num-3"/>
          <p:cNvSpPr/>
          <p:nvPr/>
        </p:nvSpPr>
        <p:spPr>
          <a:xfrm>
            <a:off x="6563182" y="1783080"/>
            <a:ext cx="914400" cy="914400"/>
          </a:xfrm>
          <a:prstGeom prst="ellipse">
            <a:avLst/>
          </a:prstGeom>
          <a:solidFill>
            <a:schemeClr val="accent1"/>
          </a:solidFill>
          <a:ln w="38100">
            <a:solidFill>
              <a:srgbClr val="FFFFFF"/>
            </a:solidFill>
            <a:prstDash val="solid"/>
          </a:ln>
        </p:spPr>
      </p:sp>
      <p:sp>
        <p:nvSpPr>
          <p:cNvPr id="20" name="Text 18"/>
          <p:cNvSpPr txBox="1"/>
          <p:nvPr/>
        </p:nvSpPr>
        <p:spPr>
          <a:xfrm>
            <a:off x="6563182" y="1783080"/>
            <a:ext cx="914400" cy="91440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21" name="how-card-3"/>
          <p:cNvSpPr/>
          <p:nvPr/>
        </p:nvSpPr>
        <p:spPr>
          <a:xfrm>
            <a:off x="6169000" y="3063240"/>
            <a:ext cx="1702765" cy="2743200"/>
          </a:xfrm>
          <a:prstGeom prst="roundRect">
            <a:avLst>
              <a:gd name="adj" fmla="val 6444"/>
            </a:avLst>
          </a:prstGeom>
          <a:solidFill>
            <a:schemeClr val="bg2"/>
          </a:solidFill>
          <a:ln w="12700">
            <a:solidFill>
              <a:schemeClr val="bg2"/>
            </a:solidFill>
            <a:prstDash val="solid"/>
          </a:ln>
        </p:spPr>
      </p:sp>
      <p:sp>
        <p:nvSpPr>
          <p:cNvPr id="22" name="Text 20"/>
          <p:cNvSpPr txBox="1"/>
          <p:nvPr/>
        </p:nvSpPr>
        <p:spPr>
          <a:xfrm>
            <a:off x="6324448" y="3291840"/>
            <a:ext cx="1391869" cy="777240"/>
          </a:xfrm>
          <a:prstGeom prst="rect">
            <a:avLst/>
          </a:prstGeom>
          <a:noFill/>
          <a:ln/>
        </p:spPr>
        <p:txBody>
          <a:bodyPr wrap="square" lIns="0" tIns="0" rIns="0" bIns="0" rtlCol="0" anchor="t"/>
          <a:lstStyle/>
          <a:p>
            <a:pPr algn="ctr" indent="0" marL="0">
              <a:buNone/>
            </a:pPr>
            <a:r>
              <a:rPr lang="en-US" sz="1800" b="1" dirty="0">
                <a:solidFill>
                  <a:schemeClr val="tx2"/>
                </a:solidFill>
              </a:rPr>
              <a:t>Connect HubSpot</a:t>
            </a:r>
            <a:endParaRPr lang="en-US" sz="1800" dirty="0"/>
          </a:p>
        </p:txBody>
      </p:sp>
      <p:sp>
        <p:nvSpPr>
          <p:cNvPr id="23" name="Text 21"/>
          <p:cNvSpPr txBox="1"/>
          <p:nvPr/>
        </p:nvSpPr>
        <p:spPr>
          <a:xfrm>
            <a:off x="6324448" y="4114800"/>
            <a:ext cx="1391869" cy="1554480"/>
          </a:xfrm>
          <a:prstGeom prst="rect">
            <a:avLst/>
          </a:prstGeom>
          <a:noFill/>
          <a:ln/>
        </p:spPr>
        <p:txBody>
          <a:bodyPr wrap="square" lIns="0" tIns="0" rIns="0" bIns="0" rtlCol="0" anchor="t"/>
          <a:lstStyle/>
          <a:p>
            <a:pPr algn="ctr" indent="0" marL="0">
              <a:buNone/>
            </a:pPr>
            <a:r>
              <a:rPr lang="en-US" sz="1500" dirty="0">
                <a:solidFill>
                  <a:schemeClr val="tx1"/>
                </a:solidFill>
              </a:rPr>
              <a:t>Read-only, to audit what the client already has.</a:t>
            </a:r>
            <a:endParaRPr lang="en-US" sz="1500" dirty="0"/>
          </a:p>
        </p:txBody>
      </p:sp>
      <p:sp>
        <p:nvSpPr>
          <p:cNvPr id="24" name="how-num-4"/>
          <p:cNvSpPr/>
          <p:nvPr/>
        </p:nvSpPr>
        <p:spPr>
          <a:xfrm>
            <a:off x="8412251" y="1783080"/>
            <a:ext cx="914400" cy="914400"/>
          </a:xfrm>
          <a:prstGeom prst="ellipse">
            <a:avLst/>
          </a:prstGeom>
          <a:solidFill>
            <a:schemeClr val="accent1"/>
          </a:solidFill>
          <a:ln w="38100">
            <a:solidFill>
              <a:srgbClr val="FFFFFF"/>
            </a:solidFill>
            <a:prstDash val="solid"/>
          </a:ln>
        </p:spPr>
      </p:sp>
      <p:sp>
        <p:nvSpPr>
          <p:cNvPr id="25" name="Text 23"/>
          <p:cNvSpPr txBox="1"/>
          <p:nvPr/>
        </p:nvSpPr>
        <p:spPr>
          <a:xfrm>
            <a:off x="8412251" y="1783080"/>
            <a:ext cx="914400" cy="91440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26" name="how-card-4"/>
          <p:cNvSpPr/>
          <p:nvPr/>
        </p:nvSpPr>
        <p:spPr>
          <a:xfrm>
            <a:off x="8018069" y="3063240"/>
            <a:ext cx="1702765" cy="2743200"/>
          </a:xfrm>
          <a:prstGeom prst="roundRect">
            <a:avLst>
              <a:gd name="adj" fmla="val 6444"/>
            </a:avLst>
          </a:prstGeom>
          <a:solidFill>
            <a:schemeClr val="bg2"/>
          </a:solidFill>
          <a:ln w="12700">
            <a:solidFill>
              <a:schemeClr val="bg2"/>
            </a:solidFill>
            <a:prstDash val="solid"/>
          </a:ln>
        </p:spPr>
      </p:sp>
      <p:sp>
        <p:nvSpPr>
          <p:cNvPr id="27" name="Text 25"/>
          <p:cNvSpPr txBox="1"/>
          <p:nvPr/>
        </p:nvSpPr>
        <p:spPr>
          <a:xfrm>
            <a:off x="8173517" y="3291840"/>
            <a:ext cx="1391869" cy="777240"/>
          </a:xfrm>
          <a:prstGeom prst="rect">
            <a:avLst/>
          </a:prstGeom>
          <a:noFill/>
          <a:ln/>
        </p:spPr>
        <p:txBody>
          <a:bodyPr wrap="square" lIns="0" tIns="0" rIns="0" bIns="0" rtlCol="0" anchor="t"/>
          <a:lstStyle/>
          <a:p>
            <a:pPr algn="ctr" indent="0" marL="0">
              <a:buNone/>
            </a:pPr>
            <a:r>
              <a:rPr lang="en-US" sz="1800" b="1" dirty="0">
                <a:solidFill>
                  <a:schemeClr val="tx2"/>
                </a:solidFill>
              </a:rPr>
              <a:t>Design and propose</a:t>
            </a:r>
            <a:endParaRPr lang="en-US" sz="1800" dirty="0"/>
          </a:p>
        </p:txBody>
      </p:sp>
      <p:sp>
        <p:nvSpPr>
          <p:cNvPr id="28" name="Text 26"/>
          <p:cNvSpPr txBox="1"/>
          <p:nvPr/>
        </p:nvSpPr>
        <p:spPr>
          <a:xfrm>
            <a:off x="8173517" y="4114800"/>
            <a:ext cx="1391869" cy="1554480"/>
          </a:xfrm>
          <a:prstGeom prst="rect">
            <a:avLst/>
          </a:prstGeom>
          <a:noFill/>
          <a:ln/>
        </p:spPr>
        <p:txBody>
          <a:bodyPr wrap="square" lIns="0" tIns="0" rIns="0" bIns="0" rtlCol="0" anchor="t"/>
          <a:lstStyle/>
          <a:p>
            <a:pPr algn="ctr" indent="0" marL="0">
              <a:buNone/>
            </a:pPr>
            <a:r>
              <a:rPr lang="en-US" sz="1500" dirty="0">
                <a:solidFill>
                  <a:schemeClr val="tx1"/>
                </a:solidFill>
              </a:rPr>
              <a:t>Architecture, diagram and proposal in one flow.</a:t>
            </a:r>
            <a:endParaRPr lang="en-US" sz="1500" dirty="0"/>
          </a:p>
        </p:txBody>
      </p:sp>
      <p:sp>
        <p:nvSpPr>
          <p:cNvPr id="29" name="how-num-5"/>
          <p:cNvSpPr/>
          <p:nvPr/>
        </p:nvSpPr>
        <p:spPr>
          <a:xfrm>
            <a:off x="10261321" y="1783080"/>
            <a:ext cx="914400" cy="914400"/>
          </a:xfrm>
          <a:prstGeom prst="ellipse">
            <a:avLst/>
          </a:prstGeom>
          <a:solidFill>
            <a:schemeClr val="accent1"/>
          </a:solidFill>
          <a:ln w="38100">
            <a:solidFill>
              <a:srgbClr val="FFFFFF"/>
            </a:solidFill>
            <a:prstDash val="solid"/>
          </a:ln>
        </p:spPr>
      </p:sp>
      <p:sp>
        <p:nvSpPr>
          <p:cNvPr id="30" name="Text 28"/>
          <p:cNvSpPr txBox="1"/>
          <p:nvPr/>
        </p:nvSpPr>
        <p:spPr>
          <a:xfrm>
            <a:off x="10261321" y="1783080"/>
            <a:ext cx="914400" cy="914400"/>
          </a:xfrm>
          <a:prstGeom prst="rect">
            <a:avLst/>
          </a:prstGeom>
          <a:noFill/>
          <a:ln/>
        </p:spPr>
        <p:txBody>
          <a:bodyPr wrap="square" lIns="0" tIns="0" rIns="0" bIns="0" rtlCol="0" anchor="ctr"/>
          <a:lstStyle/>
          <a:p>
            <a:pPr algn="ctr" indent="0" marL="0">
              <a:buNone/>
            </a:pPr>
            <a:r>
              <a:rPr lang="en-US" sz="2800" b="1" dirty="0">
                <a:solidFill>
                  <a:schemeClr val="bg1"/>
                </a:solidFill>
              </a:rPr>
              <a:t>6</a:t>
            </a:r>
            <a:endParaRPr lang="en-US" sz="2800" dirty="0"/>
          </a:p>
        </p:txBody>
      </p:sp>
      <p:sp>
        <p:nvSpPr>
          <p:cNvPr id="31" name="how-card-5"/>
          <p:cNvSpPr/>
          <p:nvPr/>
        </p:nvSpPr>
        <p:spPr>
          <a:xfrm>
            <a:off x="9867138" y="3063240"/>
            <a:ext cx="1702765" cy="2743200"/>
          </a:xfrm>
          <a:prstGeom prst="roundRect">
            <a:avLst>
              <a:gd name="adj" fmla="val 6444"/>
            </a:avLst>
          </a:prstGeom>
          <a:solidFill>
            <a:schemeClr val="bg2"/>
          </a:solidFill>
          <a:ln w="12700">
            <a:solidFill>
              <a:schemeClr val="bg2"/>
            </a:solidFill>
            <a:prstDash val="solid"/>
          </a:ln>
        </p:spPr>
      </p:sp>
      <p:sp>
        <p:nvSpPr>
          <p:cNvPr id="32" name="Text 30"/>
          <p:cNvSpPr txBox="1"/>
          <p:nvPr/>
        </p:nvSpPr>
        <p:spPr>
          <a:xfrm>
            <a:off x="10022586" y="3291840"/>
            <a:ext cx="1391869" cy="777240"/>
          </a:xfrm>
          <a:prstGeom prst="rect">
            <a:avLst/>
          </a:prstGeom>
          <a:noFill/>
          <a:ln/>
        </p:spPr>
        <p:txBody>
          <a:bodyPr wrap="square" lIns="0" tIns="0" rIns="0" bIns="0" rtlCol="0" anchor="t"/>
          <a:lstStyle/>
          <a:p>
            <a:pPr algn="ctr" indent="0" marL="0">
              <a:buNone/>
            </a:pPr>
            <a:r>
              <a:rPr lang="en-US" sz="1800" b="1" dirty="0">
                <a:solidFill>
                  <a:schemeClr val="tx2"/>
                </a:solidFill>
              </a:rPr>
              <a:t>Save and share</a:t>
            </a:r>
            <a:endParaRPr lang="en-US" sz="1800" dirty="0"/>
          </a:p>
        </p:txBody>
      </p:sp>
      <p:sp>
        <p:nvSpPr>
          <p:cNvPr id="33" name="Text 31"/>
          <p:cNvSpPr txBox="1"/>
          <p:nvPr/>
        </p:nvSpPr>
        <p:spPr>
          <a:xfrm>
            <a:off x="10022586" y="4114800"/>
            <a:ext cx="1391869" cy="1554480"/>
          </a:xfrm>
          <a:prstGeom prst="rect">
            <a:avLst/>
          </a:prstGeom>
          <a:noFill/>
          <a:ln/>
        </p:spPr>
        <p:txBody>
          <a:bodyPr wrap="square" lIns="0" tIns="0" rIns="0" bIns="0" rtlCol="0" anchor="t"/>
          <a:lstStyle/>
          <a:p>
            <a:pPr algn="ctr" indent="0" marL="0">
              <a:buNone/>
            </a:pPr>
            <a:r>
              <a:rPr lang="en-US" sz="1500" dirty="0">
                <a:solidFill>
                  <a:schemeClr val="tx1"/>
                </a:solidFill>
              </a:rPr>
              <a:t>Everything lands in the client's project library.</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7315200" cy="1097280"/>
          </a:xfrm>
          <a:prstGeom prst="rect">
            <a:avLst/>
          </a:prstGeom>
          <a:noFill/>
          <a:ln/>
        </p:spPr>
        <p:txBody>
          <a:bodyPr wrap="square" lIns="0" tIns="0" rIns="0" bIns="0" rtlCol="0" anchor="b"/>
          <a:lstStyle/>
          <a:p>
            <a:pPr algn="l" indent="0" marL="0">
              <a:buNone/>
            </a:pPr>
            <a:r>
              <a:rPr lang="en-US" sz="4400" b="1" dirty="0">
                <a:solidFill>
                  <a:schemeClr val="bg1"/>
                </a:solidFill>
              </a:rPr>
              <a:t>Let's see it live</a:t>
            </a:r>
            <a:endParaRPr lang="en-US" sz="4400" dirty="0"/>
          </a:p>
        </p:txBody>
      </p:sp>
      <p:sp>
        <p:nvSpPr>
          <p:cNvPr id="3" name="Text 0"/>
          <p:cNvSpPr/>
          <p:nvPr>
            <p:ph idx="101" type="body" hasCustomPrompt="1"/>
          </p:nvPr>
        </p:nvSpPr>
        <p:spPr>
          <a:xfrm>
            <a:off x="548640" y="3611880"/>
            <a:ext cx="6858000" cy="914400"/>
          </a:xfrm>
          <a:prstGeom prst="rect">
            <a:avLst/>
          </a:prstGeom>
          <a:noFill/>
          <a:ln/>
        </p:spPr>
        <p:txBody>
          <a:bodyPr wrap="square" lIns="0" tIns="0" rIns="0" bIns="0" rtlCol="0" anchor="t"/>
          <a:lstStyle/>
          <a:p>
            <a:pPr algn="l" indent="0" marL="0">
              <a:buNone/>
            </a:pPr>
            <a:r>
              <a:rPr lang="en-US" sz="2000" dirty="0">
                <a:solidFill>
                  <a:schemeClr val="accent4"/>
                </a:solidFill>
              </a:rPr>
              <a:t>A discovery call to a client-ready document in five minutes</a:t>
            </a:r>
            <a:endParaRPr lang="en-US" sz="2000" dirty="0"/>
          </a:p>
        </p:txBody>
      </p:sp>
      <p:sp>
        <p:nvSpPr>
          <p:cNvPr id="4" name="demo-play-circle"/>
          <p:cNvSpPr/>
          <p:nvPr/>
        </p:nvSpPr>
        <p:spPr>
          <a:xfrm>
            <a:off x="8778240" y="2148840"/>
            <a:ext cx="2194560" cy="2194560"/>
          </a:xfrm>
          <a:prstGeom prst="ellipse">
            <a:avLst/>
          </a:prstGeom>
          <a:solidFill>
            <a:schemeClr val="accent2"/>
          </a:solidFill>
          <a:ln w="12700">
            <a:solidFill>
              <a:schemeClr val="accent2"/>
            </a:solidFill>
            <a:prstDash val="solid"/>
          </a:ln>
        </p:spPr>
      </p:sp>
      <p:pic>
        <p:nvPicPr>
          <p:cNvPr id="5" name="demo-play-icon" descr="FaPlay">    </p:cNvPr>
          <p:cNvPicPr>
            <a:picLocks noChangeAspect="1"/>
          </p:cNvPicPr>
          <p:nvPr/>
        </p:nvPicPr>
        <p:blipFill>
          <a:blip r:embed="rId1"/>
          <a:stretch>
            <a:fillRect/>
          </a:stretch>
        </p:blipFill>
        <p:spPr>
          <a:xfrm>
            <a:off x="9326880" y="2697480"/>
            <a:ext cx="1097280" cy="1097280"/>
          </a:xfrm>
          <a:prstGeom prst="rect">
            <a:avLst/>
          </a:prstGeom>
        </p:spPr>
      </p:pic>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ED9F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Where we're going</a:t>
            </a:r>
            <a:endParaRPr lang="en-US" sz="3400" dirty="0"/>
          </a:p>
        </p:txBody>
      </p:sp>
      <p:sp>
        <p:nvSpPr>
          <p:cNvPr id="3" name="goal-statement"/>
          <p:cNvSpPr/>
          <p:nvPr/>
        </p:nvSpPr>
        <p:spPr>
          <a:xfrm>
            <a:off x="548640" y="1554480"/>
            <a:ext cx="3931920" cy="4251960"/>
          </a:xfrm>
          <a:prstGeom prst="roundRect">
            <a:avLst>
              <a:gd name="adj" fmla="val 2791"/>
            </a:avLst>
          </a:prstGeom>
          <a:solidFill>
            <a:schemeClr val="accent1"/>
          </a:solidFill>
          <a:ln w="12700">
            <a:solidFill>
              <a:schemeClr val="accent1"/>
            </a:solidFill>
            <a:prstDash val="solid"/>
          </a:ln>
        </p:spPr>
      </p:sp>
      <p:sp>
        <p:nvSpPr>
          <p:cNvPr id="4" name="Text 2"/>
          <p:cNvSpPr txBox="1"/>
          <p:nvPr/>
        </p:nvSpPr>
        <p:spPr>
          <a:xfrm>
            <a:off x="960120" y="1920240"/>
            <a:ext cx="32004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THE END GOAL</a:t>
            </a:r>
            <a:endParaRPr lang="en-US" sz="1400" dirty="0"/>
          </a:p>
        </p:txBody>
      </p:sp>
      <p:sp>
        <p:nvSpPr>
          <p:cNvPr id="5" name="Text 3"/>
          <p:cNvSpPr txBox="1"/>
          <p:nvPr/>
        </p:nvSpPr>
        <p:spPr>
          <a:xfrm>
            <a:off x="960120" y="2423160"/>
            <a:ext cx="3154680" cy="2377440"/>
          </a:xfrm>
          <a:prstGeom prst="rect">
            <a:avLst/>
          </a:prstGeom>
          <a:noFill/>
          <a:ln/>
        </p:spPr>
        <p:txBody>
          <a:bodyPr wrap="square" lIns="0" tIns="0" rIns="0" bIns="0" rtlCol="0" anchor="t"/>
          <a:lstStyle/>
          <a:p>
            <a:pPr indent="0" marL="0">
              <a:buNone/>
            </a:pPr>
            <a:r>
              <a:rPr lang="en-US" sz="2800" b="1" dirty="0">
                <a:solidFill>
                  <a:schemeClr val="bg1"/>
                </a:solidFill>
              </a:rPr>
              <a:t>One shared workspace per client, for the whole team</a:t>
            </a:r>
            <a:endParaRPr lang="en-US" sz="2800" dirty="0"/>
          </a:p>
        </p:txBody>
      </p:sp>
      <p:sp>
        <p:nvSpPr>
          <p:cNvPr id="6" name="goal-card-0"/>
          <p:cNvSpPr/>
          <p:nvPr/>
        </p:nvSpPr>
        <p:spPr>
          <a:xfrm>
            <a:off x="4800600" y="1554480"/>
            <a:ext cx="3284068" cy="1965960"/>
          </a:xfrm>
          <a:prstGeom prst="roundRect">
            <a:avLst>
              <a:gd name="adj" fmla="val 5581"/>
            </a:avLst>
          </a:prstGeom>
          <a:solidFill>
            <a:schemeClr val="bg2"/>
          </a:solidFill>
          <a:ln w="12700">
            <a:solidFill>
              <a:schemeClr val="bg2"/>
            </a:solidFill>
            <a:prstDash val="solid"/>
          </a:ln>
        </p:spPr>
      </p:sp>
      <p:sp>
        <p:nvSpPr>
          <p:cNvPr id="7" name="goal-0-circle"/>
          <p:cNvSpPr/>
          <p:nvPr/>
        </p:nvSpPr>
        <p:spPr>
          <a:xfrm>
            <a:off x="5074920" y="1828800"/>
            <a:ext cx="685800" cy="685800"/>
          </a:xfrm>
          <a:prstGeom prst="ellipse">
            <a:avLst/>
          </a:prstGeom>
          <a:solidFill>
            <a:schemeClr val="accent1"/>
          </a:solidFill>
          <a:ln w="12700">
            <a:solidFill>
              <a:schemeClr val="accent1"/>
            </a:solidFill>
            <a:prstDash val="solid"/>
          </a:ln>
        </p:spPr>
      </p:sp>
      <p:pic>
        <p:nvPicPr>
          <p:cNvPr id="8" name="goal-0-icon" descr="FaLaptop">    </p:cNvPr>
          <p:cNvPicPr>
            <a:picLocks noChangeAspect="1"/>
          </p:cNvPicPr>
          <p:nvPr/>
        </p:nvPicPr>
        <p:blipFill>
          <a:blip r:embed="rId1"/>
          <a:stretch>
            <a:fillRect/>
          </a:stretch>
        </p:blipFill>
        <p:spPr>
          <a:xfrm>
            <a:off x="5246370" y="2000250"/>
            <a:ext cx="342900" cy="342900"/>
          </a:xfrm>
          <a:prstGeom prst="rect">
            <a:avLst/>
          </a:prstGeom>
        </p:spPr>
      </p:pic>
      <p:sp>
        <p:nvSpPr>
          <p:cNvPr id="9" name="Text 6"/>
          <p:cNvSpPr txBox="1"/>
          <p:nvPr/>
        </p:nvSpPr>
        <p:spPr>
          <a:xfrm>
            <a:off x="5943600" y="1828800"/>
            <a:ext cx="1912468" cy="685800"/>
          </a:xfrm>
          <a:prstGeom prst="rect">
            <a:avLst/>
          </a:prstGeom>
          <a:noFill/>
          <a:ln/>
        </p:spPr>
        <p:txBody>
          <a:bodyPr wrap="square" lIns="0" tIns="0" rIns="0" bIns="0" rtlCol="0" anchor="ctr"/>
          <a:lstStyle/>
          <a:p>
            <a:pPr indent="0" marL="0">
              <a:buNone/>
            </a:pPr>
            <a:r>
              <a:rPr lang="en-US" sz="1900" b="1" dirty="0">
                <a:solidFill>
                  <a:schemeClr val="tx2"/>
                </a:solidFill>
              </a:rPr>
              <a:t>Modern web app</a:t>
            </a:r>
            <a:endParaRPr lang="en-US" sz="1900" dirty="0"/>
          </a:p>
        </p:txBody>
      </p:sp>
      <p:sp>
        <p:nvSpPr>
          <p:cNvPr id="10" name="Text 7"/>
          <p:cNvSpPr txBox="1"/>
          <p:nvPr/>
        </p:nvSpPr>
        <p:spPr>
          <a:xfrm>
            <a:off x="5074920" y="2651760"/>
            <a:ext cx="2735428" cy="777240"/>
          </a:xfrm>
          <a:prstGeom prst="rect">
            <a:avLst/>
          </a:prstGeom>
          <a:noFill/>
          <a:ln/>
        </p:spPr>
        <p:txBody>
          <a:bodyPr wrap="square" lIns="0" tIns="0" rIns="0" bIns="0" rtlCol="0" anchor="t"/>
          <a:lstStyle/>
          <a:p>
            <a:pPr indent="0" marL="0">
              <a:buNone/>
            </a:pPr>
            <a:r>
              <a:rPr lang="en-US" sz="1500" dirty="0">
                <a:solidFill>
                  <a:schemeClr val="tx1"/>
                </a:solidFill>
              </a:rPr>
              <a:t>Faster, easier, and nothing is lost if you close the tab.</a:t>
            </a:r>
            <a:endParaRPr lang="en-US" sz="1500" dirty="0"/>
          </a:p>
        </p:txBody>
      </p:sp>
      <p:sp>
        <p:nvSpPr>
          <p:cNvPr id="11" name="goal-card-1"/>
          <p:cNvSpPr/>
          <p:nvPr/>
        </p:nvSpPr>
        <p:spPr>
          <a:xfrm>
            <a:off x="8358988" y="1554480"/>
            <a:ext cx="3284068" cy="1965960"/>
          </a:xfrm>
          <a:prstGeom prst="roundRect">
            <a:avLst>
              <a:gd name="adj" fmla="val 5581"/>
            </a:avLst>
          </a:prstGeom>
          <a:solidFill>
            <a:schemeClr val="bg2"/>
          </a:solidFill>
          <a:ln w="12700">
            <a:solidFill>
              <a:schemeClr val="bg2"/>
            </a:solidFill>
            <a:prstDash val="solid"/>
          </a:ln>
        </p:spPr>
      </p:sp>
      <p:sp>
        <p:nvSpPr>
          <p:cNvPr id="12" name="goal-1-circle"/>
          <p:cNvSpPr/>
          <p:nvPr/>
        </p:nvSpPr>
        <p:spPr>
          <a:xfrm>
            <a:off x="8633308" y="1828800"/>
            <a:ext cx="685800" cy="685800"/>
          </a:xfrm>
          <a:prstGeom prst="ellipse">
            <a:avLst/>
          </a:prstGeom>
          <a:solidFill>
            <a:schemeClr val="accent1"/>
          </a:solidFill>
          <a:ln w="12700">
            <a:solidFill>
              <a:schemeClr val="accent1"/>
            </a:solidFill>
            <a:prstDash val="solid"/>
          </a:ln>
        </p:spPr>
      </p:sp>
      <p:pic>
        <p:nvPicPr>
          <p:cNvPr id="13" name="goal-1-icon" descr="FaUsers">    </p:cNvPr>
          <p:cNvPicPr>
            <a:picLocks noChangeAspect="1"/>
          </p:cNvPicPr>
          <p:nvPr/>
        </p:nvPicPr>
        <p:blipFill>
          <a:blip r:embed="rId2"/>
          <a:stretch>
            <a:fillRect/>
          </a:stretch>
        </p:blipFill>
        <p:spPr>
          <a:xfrm>
            <a:off x="8804758" y="2000250"/>
            <a:ext cx="342900" cy="342900"/>
          </a:xfrm>
          <a:prstGeom prst="rect">
            <a:avLst/>
          </a:prstGeom>
        </p:spPr>
      </p:pic>
      <p:sp>
        <p:nvSpPr>
          <p:cNvPr id="14" name="Text 10"/>
          <p:cNvSpPr txBox="1"/>
          <p:nvPr/>
        </p:nvSpPr>
        <p:spPr>
          <a:xfrm>
            <a:off x="9501988" y="1828800"/>
            <a:ext cx="1912468" cy="685800"/>
          </a:xfrm>
          <a:prstGeom prst="rect">
            <a:avLst/>
          </a:prstGeom>
          <a:noFill/>
          <a:ln/>
        </p:spPr>
        <p:txBody>
          <a:bodyPr wrap="square" lIns="0" tIns="0" rIns="0" bIns="0" rtlCol="0" anchor="ctr"/>
          <a:lstStyle/>
          <a:p>
            <a:pPr indent="0" marL="0">
              <a:buNone/>
            </a:pPr>
            <a:r>
              <a:rPr lang="en-US" sz="1900" b="1" dirty="0">
                <a:solidFill>
                  <a:schemeClr val="tx2"/>
                </a:solidFill>
              </a:rPr>
              <a:t>Team workspaces</a:t>
            </a:r>
            <a:endParaRPr lang="en-US" sz="1900" dirty="0"/>
          </a:p>
        </p:txBody>
      </p:sp>
      <p:sp>
        <p:nvSpPr>
          <p:cNvPr id="15" name="Text 11"/>
          <p:cNvSpPr txBox="1"/>
          <p:nvPr/>
        </p:nvSpPr>
        <p:spPr>
          <a:xfrm>
            <a:off x="8633308" y="2651760"/>
            <a:ext cx="2735428" cy="777240"/>
          </a:xfrm>
          <a:prstGeom prst="rect">
            <a:avLst/>
          </a:prstGeom>
          <a:noFill/>
          <a:ln/>
        </p:spPr>
        <p:txBody>
          <a:bodyPr wrap="square" lIns="0" tIns="0" rIns="0" bIns="0" rtlCol="0" anchor="t"/>
          <a:lstStyle/>
          <a:p>
            <a:pPr indent="0" marL="0">
              <a:buNone/>
            </a:pPr>
            <a:r>
              <a:rPr lang="en-US" sz="1500" dirty="0">
                <a:solidFill>
                  <a:schemeClr val="tx1"/>
                </a:solidFill>
              </a:rPr>
              <a:t>Sign in with Google and see every client's documents in one place.</a:t>
            </a:r>
            <a:endParaRPr lang="en-US" sz="1500" dirty="0"/>
          </a:p>
        </p:txBody>
      </p:sp>
      <p:sp>
        <p:nvSpPr>
          <p:cNvPr id="16" name="goal-card-2"/>
          <p:cNvSpPr/>
          <p:nvPr/>
        </p:nvSpPr>
        <p:spPr>
          <a:xfrm>
            <a:off x="4800600" y="3749040"/>
            <a:ext cx="3284068" cy="1965960"/>
          </a:xfrm>
          <a:prstGeom prst="roundRect">
            <a:avLst>
              <a:gd name="adj" fmla="val 5581"/>
            </a:avLst>
          </a:prstGeom>
          <a:solidFill>
            <a:schemeClr val="bg2"/>
          </a:solidFill>
          <a:ln w="12700">
            <a:solidFill>
              <a:schemeClr val="bg2"/>
            </a:solidFill>
            <a:prstDash val="solid"/>
          </a:ln>
        </p:spPr>
      </p:sp>
      <p:sp>
        <p:nvSpPr>
          <p:cNvPr id="17" name="goal-2-circle"/>
          <p:cNvSpPr/>
          <p:nvPr/>
        </p:nvSpPr>
        <p:spPr>
          <a:xfrm>
            <a:off x="5074920" y="4023360"/>
            <a:ext cx="685800" cy="685800"/>
          </a:xfrm>
          <a:prstGeom prst="ellipse">
            <a:avLst/>
          </a:prstGeom>
          <a:solidFill>
            <a:schemeClr val="accent2"/>
          </a:solidFill>
          <a:ln w="12700">
            <a:solidFill>
              <a:schemeClr val="accent2"/>
            </a:solidFill>
            <a:prstDash val="solid"/>
          </a:ln>
        </p:spPr>
      </p:sp>
      <p:pic>
        <p:nvPicPr>
          <p:cNvPr id="18" name="goal-2-icon" descr="FaLightbulb">    </p:cNvPr>
          <p:cNvPicPr>
            <a:picLocks noChangeAspect="1"/>
          </p:cNvPicPr>
          <p:nvPr/>
        </p:nvPicPr>
        <p:blipFill>
          <a:blip r:embed="rId3"/>
          <a:stretch>
            <a:fillRect/>
          </a:stretch>
        </p:blipFill>
        <p:spPr>
          <a:xfrm>
            <a:off x="5246370" y="4194810"/>
            <a:ext cx="342900" cy="342900"/>
          </a:xfrm>
          <a:prstGeom prst="rect">
            <a:avLst/>
          </a:prstGeom>
        </p:spPr>
      </p:pic>
      <p:sp>
        <p:nvSpPr>
          <p:cNvPr id="19" name="Text 14"/>
          <p:cNvSpPr txBox="1"/>
          <p:nvPr/>
        </p:nvSpPr>
        <p:spPr>
          <a:xfrm>
            <a:off x="5943600" y="4023360"/>
            <a:ext cx="1912468" cy="685800"/>
          </a:xfrm>
          <a:prstGeom prst="rect">
            <a:avLst/>
          </a:prstGeom>
          <a:noFill/>
          <a:ln/>
        </p:spPr>
        <p:txBody>
          <a:bodyPr wrap="square" lIns="0" tIns="0" rIns="0" bIns="0" rtlCol="0" anchor="ctr"/>
          <a:lstStyle/>
          <a:p>
            <a:pPr indent="0" marL="0">
              <a:buNone/>
            </a:pPr>
            <a:r>
              <a:rPr lang="en-US" sz="1900" b="1" dirty="0">
                <a:solidFill>
                  <a:schemeClr val="tx2"/>
                </a:solidFill>
              </a:rPr>
              <a:t>Smarter discovery</a:t>
            </a:r>
            <a:endParaRPr lang="en-US" sz="1900" dirty="0"/>
          </a:p>
        </p:txBody>
      </p:sp>
      <p:sp>
        <p:nvSpPr>
          <p:cNvPr id="20" name="Text 15"/>
          <p:cNvSpPr txBox="1"/>
          <p:nvPr/>
        </p:nvSpPr>
        <p:spPr>
          <a:xfrm>
            <a:off x="5074920" y="4846320"/>
            <a:ext cx="2735428" cy="777240"/>
          </a:xfrm>
          <a:prstGeom prst="rect">
            <a:avLst/>
          </a:prstGeom>
          <a:noFill/>
          <a:ln/>
        </p:spPr>
        <p:txBody>
          <a:bodyPr wrap="square" lIns="0" tIns="0" rIns="0" bIns="0" rtlCol="0" anchor="t"/>
          <a:lstStyle/>
          <a:p>
            <a:pPr indent="0" marL="0">
              <a:buNone/>
            </a:pPr>
            <a:r>
              <a:rPr lang="en-US" sz="1500" dirty="0">
                <a:solidFill>
                  <a:schemeClr val="tx1"/>
                </a:solidFill>
              </a:rPr>
              <a:t>EU contacts? It asks the privacy questions and adds the tasks.</a:t>
            </a:r>
            <a:endParaRPr lang="en-US" sz="1500" dirty="0"/>
          </a:p>
        </p:txBody>
      </p:sp>
      <p:sp>
        <p:nvSpPr>
          <p:cNvPr id="21" name="goal-card-3"/>
          <p:cNvSpPr/>
          <p:nvPr/>
        </p:nvSpPr>
        <p:spPr>
          <a:xfrm>
            <a:off x="8358988" y="3749040"/>
            <a:ext cx="3284068" cy="1965960"/>
          </a:xfrm>
          <a:prstGeom prst="roundRect">
            <a:avLst>
              <a:gd name="adj" fmla="val 5581"/>
            </a:avLst>
          </a:prstGeom>
          <a:solidFill>
            <a:schemeClr val="bg2"/>
          </a:solidFill>
          <a:ln w="12700">
            <a:solidFill>
              <a:schemeClr val="bg2"/>
            </a:solidFill>
            <a:prstDash val="solid"/>
          </a:ln>
        </p:spPr>
      </p:sp>
      <p:sp>
        <p:nvSpPr>
          <p:cNvPr id="22" name="goal-3-circle"/>
          <p:cNvSpPr/>
          <p:nvPr/>
        </p:nvSpPr>
        <p:spPr>
          <a:xfrm>
            <a:off x="8633308" y="4023360"/>
            <a:ext cx="685800" cy="685800"/>
          </a:xfrm>
          <a:prstGeom prst="ellipse">
            <a:avLst/>
          </a:prstGeom>
          <a:solidFill>
            <a:schemeClr val="accent2"/>
          </a:solidFill>
          <a:ln w="12700">
            <a:solidFill>
              <a:schemeClr val="accent2"/>
            </a:solidFill>
            <a:prstDash val="solid"/>
          </a:ln>
        </p:spPr>
      </p:sp>
      <p:pic>
        <p:nvPicPr>
          <p:cNvPr id="23" name="goal-3-icon" descr="FaListOl">    </p:cNvPr>
          <p:cNvPicPr>
            <a:picLocks noChangeAspect="1"/>
          </p:cNvPicPr>
          <p:nvPr/>
        </p:nvPicPr>
        <p:blipFill>
          <a:blip r:embed="rId4"/>
          <a:stretch>
            <a:fillRect/>
          </a:stretch>
        </p:blipFill>
        <p:spPr>
          <a:xfrm>
            <a:off x="8804758" y="4194810"/>
            <a:ext cx="342900" cy="342900"/>
          </a:xfrm>
          <a:prstGeom prst="rect">
            <a:avLst/>
          </a:prstGeom>
        </p:spPr>
      </p:pic>
      <p:sp>
        <p:nvSpPr>
          <p:cNvPr id="24" name="Text 18"/>
          <p:cNvSpPr txBox="1"/>
          <p:nvPr/>
        </p:nvSpPr>
        <p:spPr>
          <a:xfrm>
            <a:off x="9501988" y="4023360"/>
            <a:ext cx="1912468" cy="685800"/>
          </a:xfrm>
          <a:prstGeom prst="rect">
            <a:avLst/>
          </a:prstGeom>
          <a:noFill/>
          <a:ln/>
        </p:spPr>
        <p:txBody>
          <a:bodyPr wrap="square" lIns="0" tIns="0" rIns="0" bIns="0" rtlCol="0" anchor="ctr"/>
          <a:lstStyle/>
          <a:p>
            <a:pPr indent="0" marL="0">
              <a:buNone/>
            </a:pPr>
            <a:r>
              <a:rPr lang="en-US" sz="1900" b="1" dirty="0">
                <a:solidFill>
                  <a:schemeClr val="tx2"/>
                </a:solidFill>
              </a:rPr>
              <a:t>Build order</a:t>
            </a:r>
            <a:endParaRPr lang="en-US" sz="1900" dirty="0"/>
          </a:p>
        </p:txBody>
      </p:sp>
      <p:sp>
        <p:nvSpPr>
          <p:cNvPr id="25" name="Text 19"/>
          <p:cNvSpPr txBox="1"/>
          <p:nvPr/>
        </p:nvSpPr>
        <p:spPr>
          <a:xfrm>
            <a:off x="8633308" y="4846320"/>
            <a:ext cx="2735428" cy="777240"/>
          </a:xfrm>
          <a:prstGeom prst="rect">
            <a:avLst/>
          </a:prstGeom>
          <a:noFill/>
          <a:ln/>
        </p:spPr>
        <p:txBody>
          <a:bodyPr wrap="square" lIns="0" tIns="0" rIns="0" bIns="0" rtlCol="0" anchor="t"/>
          <a:lstStyle/>
          <a:p>
            <a:pPr indent="0" marL="0">
              <a:buNone/>
            </a:pPr>
            <a:r>
              <a:rPr lang="en-US" sz="1500" dirty="0">
                <a:solidFill>
                  <a:schemeClr val="tx1"/>
                </a:solidFill>
              </a:rPr>
              <a:t>A ready checklist for the implementation team, straight from discovery.</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The road ahead</a:t>
            </a:r>
            <a:endParaRPr lang="en-US" sz="3400" dirty="0"/>
          </a:p>
        </p:txBody>
      </p:sp>
      <p:sp>
        <p:nvSpPr>
          <p:cNvPr id="3" name="road-line"/>
          <p:cNvSpPr/>
          <p:nvPr/>
        </p:nvSpPr>
        <p:spPr>
          <a:xfrm>
            <a:off x="960120" y="2057400"/>
            <a:ext cx="10271455" cy="0"/>
          </a:xfrm>
          <a:prstGeom prst="line">
            <a:avLst/>
          </a:prstGeom>
          <a:noFill/>
          <a:ln w="38100">
            <a:solidFill>
              <a:srgbClr val="DED9F2"/>
            </a:solidFill>
            <a:prstDash val="solid"/>
          </a:ln>
        </p:spPr>
      </p:sp>
      <p:sp>
        <p:nvSpPr>
          <p:cNvPr id="4" name="road-dot-0"/>
          <p:cNvSpPr/>
          <p:nvPr/>
        </p:nvSpPr>
        <p:spPr>
          <a:xfrm>
            <a:off x="731520" y="1828800"/>
            <a:ext cx="457200" cy="457200"/>
          </a:xfrm>
          <a:prstGeom prst="ellipse">
            <a:avLst/>
          </a:prstGeom>
          <a:solidFill>
            <a:schemeClr val="accent2"/>
          </a:solidFill>
          <a:ln w="38100">
            <a:solidFill>
              <a:srgbClr val="FFFFFF"/>
            </a:solidFill>
            <a:prstDash val="solid"/>
          </a:ln>
        </p:spPr>
      </p:sp>
      <p:sp>
        <p:nvSpPr>
          <p:cNvPr id="5" name="Text 3"/>
          <p:cNvSpPr txBox="1"/>
          <p:nvPr/>
        </p:nvSpPr>
        <p:spPr>
          <a:xfrm>
            <a:off x="731520" y="1371600"/>
            <a:ext cx="2407844" cy="365760"/>
          </a:xfrm>
          <a:prstGeom prst="rect">
            <a:avLst/>
          </a:prstGeom>
          <a:noFill/>
          <a:ln/>
        </p:spPr>
        <p:txBody>
          <a:bodyPr wrap="square" lIns="0" tIns="0" rIns="0" bIns="0" rtlCol="0" anchor="t"/>
          <a:lstStyle/>
          <a:p>
            <a:pPr indent="0" marL="0">
              <a:buNone/>
            </a:pPr>
            <a:r>
              <a:rPr lang="en-US" sz="1400" b="1" spc="100" kern="0" dirty="0">
                <a:solidFill>
                  <a:schemeClr val="accent2"/>
                </a:solidFill>
              </a:rPr>
              <a:t>Today</a:t>
            </a:r>
            <a:endParaRPr lang="en-US" sz="1400" dirty="0"/>
          </a:p>
        </p:txBody>
      </p:sp>
      <p:sp>
        <p:nvSpPr>
          <p:cNvPr id="6" name="road-card-0"/>
          <p:cNvSpPr/>
          <p:nvPr/>
        </p:nvSpPr>
        <p:spPr>
          <a:xfrm>
            <a:off x="640080" y="2606040"/>
            <a:ext cx="2499284" cy="2880360"/>
          </a:xfrm>
          <a:prstGeom prst="roundRect">
            <a:avLst>
              <a:gd name="adj" fmla="val 4390"/>
            </a:avLst>
          </a:prstGeom>
          <a:solidFill>
            <a:schemeClr val="accent4"/>
          </a:solidFill>
          <a:ln w="12700">
            <a:solidFill>
              <a:schemeClr val="accent4"/>
            </a:solidFill>
            <a:prstDash val="solid"/>
          </a:ln>
        </p:spPr>
      </p:sp>
      <p:sp>
        <p:nvSpPr>
          <p:cNvPr id="7" name="Text 5"/>
          <p:cNvSpPr txBox="1"/>
          <p:nvPr/>
        </p:nvSpPr>
        <p:spPr>
          <a:xfrm>
            <a:off x="914400" y="2880360"/>
            <a:ext cx="1950644" cy="777240"/>
          </a:xfrm>
          <a:prstGeom prst="rect">
            <a:avLst/>
          </a:prstGeom>
          <a:noFill/>
          <a:ln/>
        </p:spPr>
        <p:txBody>
          <a:bodyPr wrap="square" lIns="0" tIns="0" rIns="0" bIns="0" rtlCol="0" anchor="t"/>
          <a:lstStyle/>
          <a:p>
            <a:pPr indent="0" marL="0">
              <a:buNone/>
            </a:pPr>
            <a:r>
              <a:rPr lang="en-US" sz="1900" b="1" dirty="0">
                <a:solidFill>
                  <a:schemeClr val="tx2"/>
                </a:solidFill>
              </a:rPr>
              <a:t>Available now</a:t>
            </a:r>
            <a:endParaRPr lang="en-US" sz="1900" dirty="0"/>
          </a:p>
        </p:txBody>
      </p:sp>
      <p:sp>
        <p:nvSpPr>
          <p:cNvPr id="8" name="Text 6"/>
          <p:cNvSpPr txBox="1"/>
          <p:nvPr/>
        </p:nvSpPr>
        <p:spPr>
          <a:xfrm>
            <a:off x="914400" y="3703320"/>
            <a:ext cx="1950644" cy="1920240"/>
          </a:xfrm>
          <a:prstGeom prst="rect">
            <a:avLst/>
          </a:prstGeom>
          <a:noFill/>
          <a:ln/>
        </p:spPr>
        <p:txBody>
          <a:bodyPr wrap="square" lIns="0" tIns="0" rIns="0" bIns="0" rtlCol="0" anchor="t"/>
          <a:lstStyle/>
          <a:p>
            <a:pPr indent="0" marL="0">
              <a:buNone/>
            </a:pPr>
            <a:r>
              <a:rPr lang="en-US" sz="1500" dirty="0">
                <a:solidFill>
                  <a:schemeClr val="tx1"/>
                </a:solidFill>
              </a:rPr>
              <a:t>All 11 tools in one app. Its foundation was rebuilt this month so it can grow safely.</a:t>
            </a:r>
            <a:endParaRPr lang="en-US" sz="1500" dirty="0"/>
          </a:p>
        </p:txBody>
      </p:sp>
      <p:sp>
        <p:nvSpPr>
          <p:cNvPr id="9" name="road-dot-1"/>
          <p:cNvSpPr/>
          <p:nvPr/>
        </p:nvSpPr>
        <p:spPr>
          <a:xfrm>
            <a:off x="3505124" y="1828800"/>
            <a:ext cx="457200" cy="457200"/>
          </a:xfrm>
          <a:prstGeom prst="ellipse">
            <a:avLst/>
          </a:prstGeom>
          <a:solidFill>
            <a:schemeClr val="accent1"/>
          </a:solidFill>
          <a:ln w="38100">
            <a:solidFill>
              <a:srgbClr val="FFFFFF"/>
            </a:solidFill>
            <a:prstDash val="solid"/>
          </a:ln>
        </p:spPr>
      </p:sp>
      <p:sp>
        <p:nvSpPr>
          <p:cNvPr id="10" name="Text 8"/>
          <p:cNvSpPr txBox="1"/>
          <p:nvPr/>
        </p:nvSpPr>
        <p:spPr>
          <a:xfrm>
            <a:off x="3505124" y="1371600"/>
            <a:ext cx="2407844" cy="365760"/>
          </a:xfrm>
          <a:prstGeom prst="rect">
            <a:avLst/>
          </a:prstGeom>
          <a:noFill/>
          <a:ln/>
        </p:spPr>
        <p:txBody>
          <a:bodyPr wrap="square" lIns="0" tIns="0" rIns="0" bIns="0" rtlCol="0" anchor="t"/>
          <a:lstStyle/>
          <a:p>
            <a:pPr indent="0" marL="0">
              <a:buNone/>
            </a:pPr>
            <a:r>
              <a:rPr lang="en-US" sz="1400" b="1" spc="100" kern="0" dirty="0">
                <a:solidFill>
                  <a:schemeClr val="accent6"/>
                </a:solidFill>
              </a:rPr>
              <a:t>Next</a:t>
            </a:r>
            <a:endParaRPr lang="en-US" sz="1400" dirty="0"/>
          </a:p>
        </p:txBody>
      </p:sp>
      <p:sp>
        <p:nvSpPr>
          <p:cNvPr id="11" name="road-card-1"/>
          <p:cNvSpPr/>
          <p:nvPr/>
        </p:nvSpPr>
        <p:spPr>
          <a:xfrm>
            <a:off x="3413684" y="2606040"/>
            <a:ext cx="2499284" cy="2880360"/>
          </a:xfrm>
          <a:prstGeom prst="roundRect">
            <a:avLst>
              <a:gd name="adj" fmla="val 4390"/>
            </a:avLst>
          </a:prstGeom>
          <a:solidFill>
            <a:schemeClr val="bg2"/>
          </a:solidFill>
          <a:ln w="12700">
            <a:solidFill>
              <a:schemeClr val="bg2"/>
            </a:solidFill>
            <a:prstDash val="solid"/>
          </a:ln>
        </p:spPr>
      </p:sp>
      <p:sp>
        <p:nvSpPr>
          <p:cNvPr id="12" name="Text 10"/>
          <p:cNvSpPr txBox="1"/>
          <p:nvPr/>
        </p:nvSpPr>
        <p:spPr>
          <a:xfrm>
            <a:off x="3688004" y="2880360"/>
            <a:ext cx="1950644" cy="777240"/>
          </a:xfrm>
          <a:prstGeom prst="rect">
            <a:avLst/>
          </a:prstGeom>
          <a:noFill/>
          <a:ln/>
        </p:spPr>
        <p:txBody>
          <a:bodyPr wrap="square" lIns="0" tIns="0" rIns="0" bIns="0" rtlCol="0" anchor="t"/>
          <a:lstStyle/>
          <a:p>
            <a:pPr indent="0" marL="0">
              <a:buNone/>
            </a:pPr>
            <a:r>
              <a:rPr lang="en-US" sz="1900" b="1" dirty="0">
                <a:solidFill>
                  <a:schemeClr val="tx2"/>
                </a:solidFill>
              </a:rPr>
              <a:t>Accounts and saved work</a:t>
            </a:r>
            <a:endParaRPr lang="en-US" sz="1900" dirty="0"/>
          </a:p>
        </p:txBody>
      </p:sp>
      <p:sp>
        <p:nvSpPr>
          <p:cNvPr id="13" name="Text 11"/>
          <p:cNvSpPr txBox="1"/>
          <p:nvPr/>
        </p:nvSpPr>
        <p:spPr>
          <a:xfrm>
            <a:off x="3688004" y="3703320"/>
            <a:ext cx="1950644" cy="1920240"/>
          </a:xfrm>
          <a:prstGeom prst="rect">
            <a:avLst/>
          </a:prstGeom>
          <a:noFill/>
          <a:ln/>
        </p:spPr>
        <p:txBody>
          <a:bodyPr wrap="square" lIns="0" tIns="0" rIns="0" bIns="0" rtlCol="0" anchor="t"/>
          <a:lstStyle/>
          <a:p>
            <a:pPr indent="0" marL="0">
              <a:buNone/>
            </a:pPr>
            <a:r>
              <a:rPr lang="en-US" sz="1500" dirty="0">
                <a:solidFill>
                  <a:schemeClr val="tx1"/>
                </a:solidFill>
              </a:rPr>
              <a:t>Google sign-in, team roles, and projects saved for everyone.</a:t>
            </a:r>
            <a:endParaRPr lang="en-US" sz="1500" dirty="0"/>
          </a:p>
        </p:txBody>
      </p:sp>
      <p:sp>
        <p:nvSpPr>
          <p:cNvPr id="14" name="road-dot-2"/>
          <p:cNvSpPr/>
          <p:nvPr/>
        </p:nvSpPr>
        <p:spPr>
          <a:xfrm>
            <a:off x="6278728" y="1828800"/>
            <a:ext cx="457200" cy="457200"/>
          </a:xfrm>
          <a:prstGeom prst="ellipse">
            <a:avLst/>
          </a:prstGeom>
          <a:solidFill>
            <a:schemeClr val="accent1"/>
          </a:solidFill>
          <a:ln w="38100">
            <a:solidFill>
              <a:srgbClr val="FFFFFF"/>
            </a:solidFill>
            <a:prstDash val="solid"/>
          </a:ln>
        </p:spPr>
      </p:sp>
      <p:sp>
        <p:nvSpPr>
          <p:cNvPr id="15" name="Text 13"/>
          <p:cNvSpPr txBox="1"/>
          <p:nvPr/>
        </p:nvSpPr>
        <p:spPr>
          <a:xfrm>
            <a:off x="6278728" y="1371600"/>
            <a:ext cx="2407844" cy="365760"/>
          </a:xfrm>
          <a:prstGeom prst="rect">
            <a:avLst/>
          </a:prstGeom>
          <a:noFill/>
          <a:ln/>
        </p:spPr>
        <p:txBody>
          <a:bodyPr wrap="square" lIns="0" tIns="0" rIns="0" bIns="0" rtlCol="0" anchor="t"/>
          <a:lstStyle/>
          <a:p>
            <a:pPr indent="0" marL="0">
              <a:buNone/>
            </a:pPr>
            <a:r>
              <a:rPr lang="en-US" sz="1400" b="1" spc="100" kern="0" dirty="0">
                <a:solidFill>
                  <a:schemeClr val="accent6"/>
                </a:solidFill>
              </a:rPr>
              <a:t>Then</a:t>
            </a:r>
            <a:endParaRPr lang="en-US" sz="1400" dirty="0"/>
          </a:p>
        </p:txBody>
      </p:sp>
      <p:sp>
        <p:nvSpPr>
          <p:cNvPr id="16" name="road-card-2"/>
          <p:cNvSpPr/>
          <p:nvPr/>
        </p:nvSpPr>
        <p:spPr>
          <a:xfrm>
            <a:off x="6187288" y="2606040"/>
            <a:ext cx="2499284" cy="2880360"/>
          </a:xfrm>
          <a:prstGeom prst="roundRect">
            <a:avLst>
              <a:gd name="adj" fmla="val 4390"/>
            </a:avLst>
          </a:prstGeom>
          <a:solidFill>
            <a:schemeClr val="bg2"/>
          </a:solidFill>
          <a:ln w="12700">
            <a:solidFill>
              <a:schemeClr val="bg2"/>
            </a:solidFill>
            <a:prstDash val="solid"/>
          </a:ln>
        </p:spPr>
      </p:sp>
      <p:sp>
        <p:nvSpPr>
          <p:cNvPr id="17" name="Text 15"/>
          <p:cNvSpPr txBox="1"/>
          <p:nvPr/>
        </p:nvSpPr>
        <p:spPr>
          <a:xfrm>
            <a:off x="6461608" y="2880360"/>
            <a:ext cx="1950644" cy="777240"/>
          </a:xfrm>
          <a:prstGeom prst="rect">
            <a:avLst/>
          </a:prstGeom>
          <a:noFill/>
          <a:ln/>
        </p:spPr>
        <p:txBody>
          <a:bodyPr wrap="square" lIns="0" tIns="0" rIns="0" bIns="0" rtlCol="0" anchor="t"/>
          <a:lstStyle/>
          <a:p>
            <a:pPr indent="0" marL="0">
              <a:buNone/>
            </a:pPr>
            <a:r>
              <a:rPr lang="en-US" sz="1900" b="1" dirty="0">
                <a:solidFill>
                  <a:schemeClr val="tx2"/>
                </a:solidFill>
              </a:rPr>
              <a:t>The new web app</a:t>
            </a:r>
            <a:endParaRPr lang="en-US" sz="1900" dirty="0"/>
          </a:p>
        </p:txBody>
      </p:sp>
      <p:sp>
        <p:nvSpPr>
          <p:cNvPr id="18" name="Text 16"/>
          <p:cNvSpPr txBox="1"/>
          <p:nvPr/>
        </p:nvSpPr>
        <p:spPr>
          <a:xfrm>
            <a:off x="6461608" y="3703320"/>
            <a:ext cx="1950644" cy="1920240"/>
          </a:xfrm>
          <a:prstGeom prst="rect">
            <a:avLst/>
          </a:prstGeom>
          <a:noFill/>
          <a:ln/>
        </p:spPr>
        <p:txBody>
          <a:bodyPr wrap="square" lIns="0" tIns="0" rIns="0" bIns="0" rtlCol="0" anchor="t"/>
          <a:lstStyle/>
          <a:p>
            <a:pPr indent="0" marL="0">
              <a:buNone/>
            </a:pPr>
            <a:r>
              <a:rPr lang="en-US" sz="1500" dirty="0">
                <a:solidFill>
                  <a:schemeClr val="tx1"/>
                </a:solidFill>
              </a:rPr>
              <a:t>Starting with Discovery: smart follow-ups, required-tasks checklist and build order.</a:t>
            </a:r>
            <a:endParaRPr lang="en-US" sz="1500" dirty="0"/>
          </a:p>
        </p:txBody>
      </p:sp>
      <p:sp>
        <p:nvSpPr>
          <p:cNvPr id="19" name="road-dot-3"/>
          <p:cNvSpPr/>
          <p:nvPr/>
        </p:nvSpPr>
        <p:spPr>
          <a:xfrm>
            <a:off x="9052331" y="1828800"/>
            <a:ext cx="457200" cy="457200"/>
          </a:xfrm>
          <a:prstGeom prst="ellipse">
            <a:avLst/>
          </a:prstGeom>
          <a:solidFill>
            <a:schemeClr val="accent3"/>
          </a:solidFill>
          <a:ln w="38100">
            <a:solidFill>
              <a:srgbClr val="FFFFFF"/>
            </a:solidFill>
            <a:prstDash val="solid"/>
          </a:ln>
        </p:spPr>
      </p:sp>
      <p:sp>
        <p:nvSpPr>
          <p:cNvPr id="20" name="Text 18"/>
          <p:cNvSpPr txBox="1"/>
          <p:nvPr/>
        </p:nvSpPr>
        <p:spPr>
          <a:xfrm>
            <a:off x="9052331" y="1371600"/>
            <a:ext cx="2407844" cy="365760"/>
          </a:xfrm>
          <a:prstGeom prst="rect">
            <a:avLst/>
          </a:prstGeom>
          <a:noFill/>
          <a:ln/>
        </p:spPr>
        <p:txBody>
          <a:bodyPr wrap="square" lIns="0" tIns="0" rIns="0" bIns="0" rtlCol="0" anchor="t"/>
          <a:lstStyle/>
          <a:p>
            <a:pPr indent="0" marL="0">
              <a:buNone/>
            </a:pPr>
            <a:r>
              <a:rPr lang="en-US" sz="1400" b="1" spc="100" kern="0" dirty="0">
                <a:solidFill>
                  <a:schemeClr val="accent6"/>
                </a:solidFill>
              </a:rPr>
              <a:t>Later</a:t>
            </a:r>
            <a:endParaRPr lang="en-US" sz="1400" dirty="0"/>
          </a:p>
        </p:txBody>
      </p:sp>
      <p:sp>
        <p:nvSpPr>
          <p:cNvPr id="21" name="road-card-3"/>
          <p:cNvSpPr/>
          <p:nvPr/>
        </p:nvSpPr>
        <p:spPr>
          <a:xfrm>
            <a:off x="8960891" y="2606040"/>
            <a:ext cx="2499284" cy="2880360"/>
          </a:xfrm>
          <a:prstGeom prst="roundRect">
            <a:avLst>
              <a:gd name="adj" fmla="val 4390"/>
            </a:avLst>
          </a:prstGeom>
          <a:solidFill>
            <a:schemeClr val="bg2"/>
          </a:solidFill>
          <a:ln w="12700">
            <a:solidFill>
              <a:schemeClr val="bg2"/>
            </a:solidFill>
            <a:prstDash val="solid"/>
          </a:ln>
        </p:spPr>
      </p:sp>
      <p:sp>
        <p:nvSpPr>
          <p:cNvPr id="22" name="Text 20"/>
          <p:cNvSpPr txBox="1"/>
          <p:nvPr/>
        </p:nvSpPr>
        <p:spPr>
          <a:xfrm>
            <a:off x="9235211" y="2880360"/>
            <a:ext cx="1950644" cy="777240"/>
          </a:xfrm>
          <a:prstGeom prst="rect">
            <a:avLst/>
          </a:prstGeom>
          <a:noFill/>
          <a:ln/>
        </p:spPr>
        <p:txBody>
          <a:bodyPr wrap="square" lIns="0" tIns="0" rIns="0" bIns="0" rtlCol="0" anchor="t"/>
          <a:lstStyle/>
          <a:p>
            <a:pPr indent="0" marL="0">
              <a:buNone/>
            </a:pPr>
            <a:r>
              <a:rPr lang="en-US" sz="1900" b="1" dirty="0">
                <a:solidFill>
                  <a:schemeClr val="tx2"/>
                </a:solidFill>
              </a:rPr>
              <a:t>Everything in one workspace</a:t>
            </a:r>
            <a:endParaRPr lang="en-US" sz="1900" dirty="0"/>
          </a:p>
        </p:txBody>
      </p:sp>
      <p:sp>
        <p:nvSpPr>
          <p:cNvPr id="23" name="Text 21"/>
          <p:cNvSpPr txBox="1"/>
          <p:nvPr/>
        </p:nvSpPr>
        <p:spPr>
          <a:xfrm>
            <a:off x="9235211" y="3703320"/>
            <a:ext cx="1950644" cy="1920240"/>
          </a:xfrm>
          <a:prstGeom prst="rect">
            <a:avLst/>
          </a:prstGeom>
          <a:noFill/>
          <a:ln/>
        </p:spPr>
        <p:txBody>
          <a:bodyPr wrap="square" lIns="0" tIns="0" rIns="0" bIns="0" rtlCol="0" anchor="t"/>
          <a:lstStyle/>
          <a:p>
            <a:pPr indent="0" marL="0">
              <a:buNone/>
            </a:pPr>
            <a:r>
              <a:rPr lang="en-US" sz="1500" dirty="0">
                <a:solidFill>
                  <a:schemeClr val="tx1"/>
                </a:solidFill>
              </a:rPr>
              <a:t>All tools in the new app, with dashboards and interactive diagrams.</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What it means for each team</a:t>
            </a:r>
            <a:endParaRPr lang="en-US" sz="3400" dirty="0"/>
          </a:p>
        </p:txBody>
      </p:sp>
      <p:sp>
        <p:nvSpPr>
          <p:cNvPr id="3" name="team-card-0"/>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4" name="team-0-circle"/>
          <p:cNvSpPr/>
          <p:nvPr/>
        </p:nvSpPr>
        <p:spPr>
          <a:xfrm>
            <a:off x="1283932" y="1965960"/>
            <a:ext cx="1097280" cy="1097280"/>
          </a:xfrm>
          <a:prstGeom prst="ellipse">
            <a:avLst/>
          </a:prstGeom>
          <a:solidFill>
            <a:schemeClr val="accent1"/>
          </a:solidFill>
          <a:ln w="12700">
            <a:solidFill>
              <a:schemeClr val="accent1"/>
            </a:solidFill>
            <a:prstDash val="solid"/>
          </a:ln>
        </p:spPr>
      </p:sp>
      <p:pic>
        <p:nvPicPr>
          <p:cNvPr id="5" name="team-0-icon" descr="FaChartLine">    </p:cNvPr>
          <p:cNvPicPr>
            <a:picLocks noChangeAspect="1"/>
          </p:cNvPicPr>
          <p:nvPr/>
        </p:nvPicPr>
        <p:blipFill>
          <a:blip r:embed="rId1"/>
          <a:stretch>
            <a:fillRect/>
          </a:stretch>
        </p:blipFill>
        <p:spPr>
          <a:xfrm>
            <a:off x="1558252" y="2240280"/>
            <a:ext cx="548640" cy="548640"/>
          </a:xfrm>
          <a:prstGeom prst="rect">
            <a:avLst/>
          </a:prstGeom>
        </p:spPr>
      </p:pic>
      <p:sp>
        <p:nvSpPr>
          <p:cNvPr id="6" name="Text 3"/>
          <p:cNvSpPr txBox="1"/>
          <p:nvPr/>
        </p:nvSpPr>
        <p:spPr>
          <a:xfrm>
            <a:off x="822960" y="3291840"/>
            <a:ext cx="2019224" cy="548640"/>
          </a:xfrm>
          <a:prstGeom prst="rect">
            <a:avLst/>
          </a:prstGeom>
          <a:noFill/>
          <a:ln/>
        </p:spPr>
        <p:txBody>
          <a:bodyPr wrap="square" lIns="0" tIns="0" rIns="0" bIns="0" rtlCol="0" anchor="t"/>
          <a:lstStyle/>
          <a:p>
            <a:pPr algn="ctr" indent="0" marL="0">
              <a:buNone/>
            </a:pPr>
            <a:r>
              <a:rPr lang="en-US" sz="2200" b="1" dirty="0">
                <a:solidFill>
                  <a:schemeClr val="tx2"/>
                </a:solidFill>
              </a:rPr>
              <a:t>Sales</a:t>
            </a:r>
            <a:endParaRPr lang="en-US" sz="2200" dirty="0"/>
          </a:p>
        </p:txBody>
      </p:sp>
      <p:sp>
        <p:nvSpPr>
          <p:cNvPr id="7" name="Text 4"/>
          <p:cNvSpPr txBox="1"/>
          <p:nvPr/>
        </p:nvSpPr>
        <p:spPr>
          <a:xfrm>
            <a:off x="822960" y="3931920"/>
            <a:ext cx="2019224" cy="1645920"/>
          </a:xfrm>
          <a:prstGeom prst="rect">
            <a:avLst/>
          </a:prstGeom>
          <a:noFill/>
          <a:ln/>
        </p:spPr>
        <p:txBody>
          <a:bodyPr wrap="square" lIns="0" tIns="0" rIns="0" bIns="0" rtlCol="0" anchor="t"/>
          <a:lstStyle/>
          <a:p>
            <a:pPr algn="ctr" indent="0" marL="0">
              <a:buNone/>
            </a:pPr>
            <a:r>
              <a:rPr lang="en-US" sz="1500" dirty="0">
                <a:solidFill>
                  <a:schemeClr val="tx1"/>
                </a:solidFill>
              </a:rPr>
              <a:t>Proposals that are faster to build and match what we deliver.</a:t>
            </a:r>
            <a:endParaRPr lang="en-US" sz="1500" dirty="0"/>
          </a:p>
        </p:txBody>
      </p:sp>
      <p:sp>
        <p:nvSpPr>
          <p:cNvPr id="8" name="team-card-1"/>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9" name="team-1-circle"/>
          <p:cNvSpPr/>
          <p:nvPr/>
        </p:nvSpPr>
        <p:spPr>
          <a:xfrm>
            <a:off x="4126116" y="1965960"/>
            <a:ext cx="1097280" cy="1097280"/>
          </a:xfrm>
          <a:prstGeom prst="ellipse">
            <a:avLst/>
          </a:prstGeom>
          <a:solidFill>
            <a:schemeClr val="accent1"/>
          </a:solidFill>
          <a:ln w="12700">
            <a:solidFill>
              <a:schemeClr val="accent1"/>
            </a:solidFill>
            <a:prstDash val="solid"/>
          </a:ln>
        </p:spPr>
      </p:sp>
      <p:pic>
        <p:nvPicPr>
          <p:cNvPr id="10" name="team-1-icon" descr="FaUserTie">    </p:cNvPr>
          <p:cNvPicPr>
            <a:picLocks noChangeAspect="1"/>
          </p:cNvPicPr>
          <p:nvPr/>
        </p:nvPicPr>
        <p:blipFill>
          <a:blip r:embed="rId2"/>
          <a:stretch>
            <a:fillRect/>
          </a:stretch>
        </p:blipFill>
        <p:spPr>
          <a:xfrm>
            <a:off x="4400436" y="2240280"/>
            <a:ext cx="548640" cy="548640"/>
          </a:xfrm>
          <a:prstGeom prst="rect">
            <a:avLst/>
          </a:prstGeom>
        </p:spPr>
      </p:pic>
      <p:sp>
        <p:nvSpPr>
          <p:cNvPr id="11" name="Text 7"/>
          <p:cNvSpPr txBox="1"/>
          <p:nvPr/>
        </p:nvSpPr>
        <p:spPr>
          <a:xfrm>
            <a:off x="3665144" y="3291840"/>
            <a:ext cx="2019224" cy="548640"/>
          </a:xfrm>
          <a:prstGeom prst="rect">
            <a:avLst/>
          </a:prstGeom>
          <a:noFill/>
          <a:ln/>
        </p:spPr>
        <p:txBody>
          <a:bodyPr wrap="square" lIns="0" tIns="0" rIns="0" bIns="0" rtlCol="0" anchor="t"/>
          <a:lstStyle/>
          <a:p>
            <a:pPr algn="ctr" indent="0" marL="0">
              <a:buNone/>
            </a:pPr>
            <a:r>
              <a:rPr lang="en-US" sz="2200" b="1" dirty="0">
                <a:solidFill>
                  <a:schemeClr val="tx2"/>
                </a:solidFill>
              </a:rPr>
              <a:t>Consultants</a:t>
            </a:r>
            <a:endParaRPr lang="en-US" sz="2200" dirty="0"/>
          </a:p>
        </p:txBody>
      </p:sp>
      <p:sp>
        <p:nvSpPr>
          <p:cNvPr id="12" name="Text 8"/>
          <p:cNvSpPr txBox="1"/>
          <p:nvPr/>
        </p:nvSpPr>
        <p:spPr>
          <a:xfrm>
            <a:off x="3665144" y="3931920"/>
            <a:ext cx="2019224" cy="1645920"/>
          </a:xfrm>
          <a:prstGeom prst="rect">
            <a:avLst/>
          </a:prstGeom>
          <a:noFill/>
          <a:ln/>
        </p:spPr>
        <p:txBody>
          <a:bodyPr wrap="square" lIns="0" tIns="0" rIns="0" bIns="0" rtlCol="0" anchor="t"/>
          <a:lstStyle/>
          <a:p>
            <a:pPr algn="ctr" indent="0" marL="0">
              <a:buNone/>
            </a:pPr>
            <a:r>
              <a:rPr lang="en-US" sz="1500" dirty="0">
                <a:solidFill>
                  <a:schemeClr val="tx1"/>
                </a:solidFill>
              </a:rPr>
              <a:t>A guide for every call and documents drafted for you.</a:t>
            </a:r>
            <a:endParaRPr lang="en-US" sz="1500" dirty="0"/>
          </a:p>
        </p:txBody>
      </p:sp>
      <p:sp>
        <p:nvSpPr>
          <p:cNvPr id="13" name="team-card-2"/>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4" name="team-2-circle"/>
          <p:cNvSpPr/>
          <p:nvPr/>
        </p:nvSpPr>
        <p:spPr>
          <a:xfrm>
            <a:off x="6968300" y="1965960"/>
            <a:ext cx="1097280" cy="1097280"/>
          </a:xfrm>
          <a:prstGeom prst="ellipse">
            <a:avLst/>
          </a:prstGeom>
          <a:solidFill>
            <a:schemeClr val="accent1"/>
          </a:solidFill>
          <a:ln w="12700">
            <a:solidFill>
              <a:schemeClr val="accent1"/>
            </a:solidFill>
            <a:prstDash val="solid"/>
          </a:ln>
        </p:spPr>
      </p:sp>
      <p:pic>
        <p:nvPicPr>
          <p:cNvPr id="15" name="team-2-icon" descr="FaScrewdriverWrench">    </p:cNvPr>
          <p:cNvPicPr>
            <a:picLocks noChangeAspect="1"/>
          </p:cNvPicPr>
          <p:nvPr/>
        </p:nvPicPr>
        <p:blipFill>
          <a:blip r:embed="rId3"/>
          <a:stretch>
            <a:fillRect/>
          </a:stretch>
        </p:blipFill>
        <p:spPr>
          <a:xfrm>
            <a:off x="7242619" y="2240280"/>
            <a:ext cx="548640" cy="548640"/>
          </a:xfrm>
          <a:prstGeom prst="rect">
            <a:avLst/>
          </a:prstGeom>
        </p:spPr>
      </p:pic>
      <p:sp>
        <p:nvSpPr>
          <p:cNvPr id="16" name="Text 11"/>
          <p:cNvSpPr txBox="1"/>
          <p:nvPr/>
        </p:nvSpPr>
        <p:spPr>
          <a:xfrm>
            <a:off x="6507328" y="3291840"/>
            <a:ext cx="2019224" cy="548640"/>
          </a:xfrm>
          <a:prstGeom prst="rect">
            <a:avLst/>
          </a:prstGeom>
          <a:noFill/>
          <a:ln/>
        </p:spPr>
        <p:txBody>
          <a:bodyPr wrap="square" lIns="0" tIns="0" rIns="0" bIns="0" rtlCol="0" anchor="t"/>
          <a:lstStyle/>
          <a:p>
            <a:pPr algn="ctr" indent="0" marL="0">
              <a:buNone/>
            </a:pPr>
            <a:r>
              <a:rPr lang="en-US" sz="2200" b="1" dirty="0">
                <a:solidFill>
                  <a:schemeClr val="tx2"/>
                </a:solidFill>
              </a:rPr>
              <a:t>Implementation</a:t>
            </a:r>
            <a:endParaRPr lang="en-US" sz="2200" dirty="0"/>
          </a:p>
        </p:txBody>
      </p:sp>
      <p:sp>
        <p:nvSpPr>
          <p:cNvPr id="17" name="Text 12"/>
          <p:cNvSpPr txBox="1"/>
          <p:nvPr/>
        </p:nvSpPr>
        <p:spPr>
          <a:xfrm>
            <a:off x="6507328" y="3931920"/>
            <a:ext cx="2019224" cy="1645920"/>
          </a:xfrm>
          <a:prstGeom prst="rect">
            <a:avLst/>
          </a:prstGeom>
          <a:noFill/>
          <a:ln/>
        </p:spPr>
        <p:txBody>
          <a:bodyPr wrap="square" lIns="0" tIns="0" rIns="0" bIns="0" rtlCol="0" anchor="t"/>
          <a:lstStyle/>
          <a:p>
            <a:pPr algn="ctr" indent="0" marL="0">
              <a:buNone/>
            </a:pPr>
            <a:r>
              <a:rPr lang="en-US" sz="1500" dirty="0">
                <a:solidFill>
                  <a:schemeClr val="tx1"/>
                </a:solidFill>
              </a:rPr>
              <a:t>A clear build order and fewer surprises mid-project.</a:t>
            </a:r>
            <a:endParaRPr lang="en-US" sz="1500" dirty="0"/>
          </a:p>
        </p:txBody>
      </p:sp>
      <p:sp>
        <p:nvSpPr>
          <p:cNvPr id="18" name="team-card-3"/>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19" name="team-3-circle"/>
          <p:cNvSpPr/>
          <p:nvPr/>
        </p:nvSpPr>
        <p:spPr>
          <a:xfrm>
            <a:off x="9810483" y="1965960"/>
            <a:ext cx="1097280" cy="1097280"/>
          </a:xfrm>
          <a:prstGeom prst="ellipse">
            <a:avLst/>
          </a:prstGeom>
          <a:solidFill>
            <a:schemeClr val="accent1"/>
          </a:solidFill>
          <a:ln w="12700">
            <a:solidFill>
              <a:schemeClr val="accent1"/>
            </a:solidFill>
            <a:prstDash val="solid"/>
          </a:ln>
        </p:spPr>
      </p:sp>
      <p:pic>
        <p:nvPicPr>
          <p:cNvPr id="20" name="team-3-icon" descr="FaBuilding">    </p:cNvPr>
          <p:cNvPicPr>
            <a:picLocks noChangeAspect="1"/>
          </p:cNvPicPr>
          <p:nvPr/>
        </p:nvPicPr>
        <p:blipFill>
          <a:blip r:embed="rId4"/>
          <a:stretch>
            <a:fillRect/>
          </a:stretch>
        </p:blipFill>
        <p:spPr>
          <a:xfrm>
            <a:off x="10084803" y="2240280"/>
            <a:ext cx="548640" cy="548640"/>
          </a:xfrm>
          <a:prstGeom prst="rect">
            <a:avLst/>
          </a:prstGeom>
        </p:spPr>
      </p:pic>
      <p:sp>
        <p:nvSpPr>
          <p:cNvPr id="21" name="Text 15"/>
          <p:cNvSpPr txBox="1"/>
          <p:nvPr/>
        </p:nvSpPr>
        <p:spPr>
          <a:xfrm>
            <a:off x="9349511" y="3291840"/>
            <a:ext cx="2019224" cy="548640"/>
          </a:xfrm>
          <a:prstGeom prst="rect">
            <a:avLst/>
          </a:prstGeom>
          <a:noFill/>
          <a:ln/>
        </p:spPr>
        <p:txBody>
          <a:bodyPr wrap="square" lIns="0" tIns="0" rIns="0" bIns="0" rtlCol="0" anchor="t"/>
          <a:lstStyle/>
          <a:p>
            <a:pPr algn="ctr" indent="0" marL="0">
              <a:buNone/>
            </a:pPr>
            <a:r>
              <a:rPr lang="en-US" sz="2200" b="1" dirty="0">
                <a:solidFill>
                  <a:schemeClr val="tx2"/>
                </a:solidFill>
              </a:rPr>
              <a:t>Leadership</a:t>
            </a:r>
            <a:endParaRPr lang="en-US" sz="2200" dirty="0"/>
          </a:p>
        </p:txBody>
      </p:sp>
      <p:sp>
        <p:nvSpPr>
          <p:cNvPr id="22" name="Text 16"/>
          <p:cNvSpPr txBox="1"/>
          <p:nvPr/>
        </p:nvSpPr>
        <p:spPr>
          <a:xfrm>
            <a:off x="9349511" y="3931920"/>
            <a:ext cx="2019224" cy="1645920"/>
          </a:xfrm>
          <a:prstGeom prst="rect">
            <a:avLst/>
          </a:prstGeom>
          <a:noFill/>
          <a:ln/>
        </p:spPr>
        <p:txBody>
          <a:bodyPr wrap="square" lIns="0" tIns="0" rIns="0" bIns="0" rtlCol="0" anchor="t"/>
          <a:lstStyle/>
          <a:p>
            <a:pPr algn="ctr" indent="0" marL="0">
              <a:buNone/>
            </a:pPr>
            <a:r>
              <a:rPr lang="en-US" sz="1500" dirty="0">
                <a:solidFill>
                  <a:schemeClr val="tx1"/>
                </a:solidFill>
              </a:rPr>
              <a:t>Consistent quality and a shared view of every client.</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libri" pitchFamily="34" charset="0"/>
                <a:ea typeface="Calibri" pitchFamily="34" charset="-122"/>
                <a:cs typeface="Calibri" pitchFamily="34" charset="-120"/>
              </a:rPr>
              <a:t>How you can help</a:t>
            </a:r>
            <a:endParaRPr lang="en-US" sz="3400" dirty="0"/>
          </a:p>
        </p:txBody>
      </p:sp>
      <p:sp>
        <p:nvSpPr>
          <p:cNvPr id="3" name="ask-0-circle"/>
          <p:cNvSpPr/>
          <p:nvPr/>
        </p:nvSpPr>
        <p:spPr>
          <a:xfrm>
            <a:off x="548640" y="1600200"/>
            <a:ext cx="960120" cy="960120"/>
          </a:xfrm>
          <a:prstGeom prst="ellipse">
            <a:avLst/>
          </a:prstGeom>
          <a:solidFill>
            <a:schemeClr val="accent2"/>
          </a:solidFill>
          <a:ln w="12700">
            <a:solidFill>
              <a:schemeClr val="accent2"/>
            </a:solidFill>
            <a:prstDash val="solid"/>
          </a:ln>
        </p:spPr>
      </p:sp>
      <p:pic>
        <p:nvPicPr>
          <p:cNvPr id="4" name="ask-0-icon" descr="FaRocket">    </p:cNvPr>
          <p:cNvPicPr>
            <a:picLocks noChangeAspect="1"/>
          </p:cNvPicPr>
          <p:nvPr/>
        </p:nvPicPr>
        <p:blipFill>
          <a:blip r:embed="rId1"/>
          <a:stretch>
            <a:fillRect/>
          </a:stretch>
        </p:blipFill>
        <p:spPr>
          <a:xfrm>
            <a:off x="788670" y="1840230"/>
            <a:ext cx="480060" cy="480060"/>
          </a:xfrm>
          <a:prstGeom prst="rect">
            <a:avLst/>
          </a:prstGeom>
        </p:spPr>
      </p:pic>
      <p:sp>
        <p:nvSpPr>
          <p:cNvPr id="5" name="Text 2"/>
          <p:cNvSpPr txBox="1"/>
          <p:nvPr/>
        </p:nvSpPr>
        <p:spPr>
          <a:xfrm>
            <a:off x="1828800" y="1618488"/>
            <a:ext cx="5669280" cy="457200"/>
          </a:xfrm>
          <a:prstGeom prst="rect">
            <a:avLst/>
          </a:prstGeom>
          <a:noFill/>
          <a:ln/>
        </p:spPr>
        <p:txBody>
          <a:bodyPr wrap="square" lIns="0" tIns="0" rIns="0" bIns="0" rtlCol="0" anchor="t"/>
          <a:lstStyle/>
          <a:p>
            <a:pPr indent="0" marL="0">
              <a:buNone/>
            </a:pPr>
            <a:r>
              <a:rPr lang="en-US" sz="2200" b="1" dirty="0">
                <a:solidFill>
                  <a:schemeClr val="tx2"/>
                </a:solidFill>
              </a:rPr>
              <a:t>Try it</a:t>
            </a:r>
            <a:endParaRPr lang="en-US" sz="2200" dirty="0"/>
          </a:p>
        </p:txBody>
      </p:sp>
      <p:sp>
        <p:nvSpPr>
          <p:cNvPr id="6" name="Text 3"/>
          <p:cNvSpPr txBox="1"/>
          <p:nvPr/>
        </p:nvSpPr>
        <p:spPr>
          <a:xfrm>
            <a:off x="1828800" y="2075688"/>
            <a:ext cx="5669280" cy="502920"/>
          </a:xfrm>
          <a:prstGeom prst="rect">
            <a:avLst/>
          </a:prstGeom>
          <a:noFill/>
          <a:ln/>
        </p:spPr>
        <p:txBody>
          <a:bodyPr wrap="square" lIns="0" tIns="0" rIns="0" bIns="0" rtlCol="0" anchor="t"/>
          <a:lstStyle/>
          <a:p>
            <a:pPr indent="0" marL="0">
              <a:buNone/>
            </a:pPr>
            <a:r>
              <a:rPr lang="en-US" sz="1600" dirty="0">
                <a:solidFill>
                  <a:schemeClr val="tx1"/>
                </a:solidFill>
              </a:rPr>
              <a:t>Use the Discovery Call Assistant on your next client call.</a:t>
            </a:r>
            <a:endParaRPr lang="en-US" sz="1600" dirty="0"/>
          </a:p>
        </p:txBody>
      </p:sp>
      <p:sp>
        <p:nvSpPr>
          <p:cNvPr id="7" name="ask-1-circle"/>
          <p:cNvSpPr/>
          <p:nvPr/>
        </p:nvSpPr>
        <p:spPr>
          <a:xfrm>
            <a:off x="548640" y="3063240"/>
            <a:ext cx="960120" cy="960120"/>
          </a:xfrm>
          <a:prstGeom prst="ellipse">
            <a:avLst/>
          </a:prstGeom>
          <a:solidFill>
            <a:schemeClr val="accent1"/>
          </a:solidFill>
          <a:ln w="12700">
            <a:solidFill>
              <a:schemeClr val="accent1"/>
            </a:solidFill>
            <a:prstDash val="solid"/>
          </a:ln>
        </p:spPr>
      </p:sp>
      <p:pic>
        <p:nvPicPr>
          <p:cNvPr id="8" name="ask-1-icon" descr="FaCommentDots">    </p:cNvPr>
          <p:cNvPicPr>
            <a:picLocks noChangeAspect="1"/>
          </p:cNvPicPr>
          <p:nvPr/>
        </p:nvPicPr>
        <p:blipFill>
          <a:blip r:embed="rId2"/>
          <a:stretch>
            <a:fillRect/>
          </a:stretch>
        </p:blipFill>
        <p:spPr>
          <a:xfrm>
            <a:off x="788670" y="3303270"/>
            <a:ext cx="480060" cy="480060"/>
          </a:xfrm>
          <a:prstGeom prst="rect">
            <a:avLst/>
          </a:prstGeom>
        </p:spPr>
      </p:pic>
      <p:sp>
        <p:nvSpPr>
          <p:cNvPr id="9" name="Text 5"/>
          <p:cNvSpPr txBox="1"/>
          <p:nvPr/>
        </p:nvSpPr>
        <p:spPr>
          <a:xfrm>
            <a:off x="1828800" y="3081528"/>
            <a:ext cx="5669280" cy="457200"/>
          </a:xfrm>
          <a:prstGeom prst="rect">
            <a:avLst/>
          </a:prstGeom>
          <a:noFill/>
          <a:ln/>
        </p:spPr>
        <p:txBody>
          <a:bodyPr wrap="square" lIns="0" tIns="0" rIns="0" bIns="0" rtlCol="0" anchor="t"/>
          <a:lstStyle/>
          <a:p>
            <a:pPr indent="0" marL="0">
              <a:buNone/>
            </a:pPr>
            <a:r>
              <a:rPr lang="en-US" sz="2200" b="1" dirty="0">
                <a:solidFill>
                  <a:schemeClr val="tx2"/>
                </a:solidFill>
              </a:rPr>
              <a:t>Tell us what's missing</a:t>
            </a:r>
            <a:endParaRPr lang="en-US" sz="2200" dirty="0"/>
          </a:p>
        </p:txBody>
      </p:sp>
      <p:sp>
        <p:nvSpPr>
          <p:cNvPr id="10" name="Text 6"/>
          <p:cNvSpPr txBox="1"/>
          <p:nvPr/>
        </p:nvSpPr>
        <p:spPr>
          <a:xfrm>
            <a:off x="1828800" y="3538728"/>
            <a:ext cx="5669280" cy="502920"/>
          </a:xfrm>
          <a:prstGeom prst="rect">
            <a:avLst/>
          </a:prstGeom>
          <a:noFill/>
          <a:ln/>
        </p:spPr>
        <p:txBody>
          <a:bodyPr wrap="square" lIns="0" tIns="0" rIns="0" bIns="0" rtlCol="0" anchor="t"/>
          <a:lstStyle/>
          <a:p>
            <a:pPr indent="0" marL="0">
              <a:buNone/>
            </a:pPr>
            <a:r>
              <a:rPr lang="en-US" sz="1600" dirty="0">
                <a:solidFill>
                  <a:schemeClr val="tx1"/>
                </a:solidFill>
              </a:rPr>
              <a:t>Share what slowed you down or what you'd add.</a:t>
            </a:r>
            <a:endParaRPr lang="en-US" sz="1600" dirty="0"/>
          </a:p>
        </p:txBody>
      </p:sp>
      <p:sp>
        <p:nvSpPr>
          <p:cNvPr id="11" name="ask-2-circle"/>
          <p:cNvSpPr/>
          <p:nvPr/>
        </p:nvSpPr>
        <p:spPr>
          <a:xfrm>
            <a:off x="548640" y="4526280"/>
            <a:ext cx="960120" cy="960120"/>
          </a:xfrm>
          <a:prstGeom prst="ellipse">
            <a:avLst/>
          </a:prstGeom>
          <a:solidFill>
            <a:schemeClr val="accent1"/>
          </a:solidFill>
          <a:ln w="12700">
            <a:solidFill>
              <a:schemeClr val="accent1"/>
            </a:solidFill>
            <a:prstDash val="solid"/>
          </a:ln>
        </p:spPr>
      </p:sp>
      <p:pic>
        <p:nvPicPr>
          <p:cNvPr id="12" name="ask-2-icon" descr="FaSliders">    </p:cNvPr>
          <p:cNvPicPr>
            <a:picLocks noChangeAspect="1"/>
          </p:cNvPicPr>
          <p:nvPr/>
        </p:nvPicPr>
        <p:blipFill>
          <a:blip r:embed="rId3"/>
          <a:stretch>
            <a:fillRect/>
          </a:stretch>
        </p:blipFill>
        <p:spPr>
          <a:xfrm>
            <a:off x="788670" y="4766310"/>
            <a:ext cx="480060" cy="480060"/>
          </a:xfrm>
          <a:prstGeom prst="rect">
            <a:avLst/>
          </a:prstGeom>
        </p:spPr>
      </p:pic>
      <p:sp>
        <p:nvSpPr>
          <p:cNvPr id="13" name="Text 8"/>
          <p:cNvSpPr txBox="1"/>
          <p:nvPr/>
        </p:nvSpPr>
        <p:spPr>
          <a:xfrm>
            <a:off x="1828800" y="4544568"/>
            <a:ext cx="5669280" cy="457200"/>
          </a:xfrm>
          <a:prstGeom prst="rect">
            <a:avLst/>
          </a:prstGeom>
          <a:noFill/>
          <a:ln/>
        </p:spPr>
        <p:txBody>
          <a:bodyPr wrap="square" lIns="0" tIns="0" rIns="0" bIns="0" rtlCol="0" anchor="t"/>
          <a:lstStyle/>
          <a:p>
            <a:pPr indent="0" marL="0">
              <a:buNone/>
            </a:pPr>
            <a:r>
              <a:rPr lang="en-US" sz="2200" b="1" dirty="0">
                <a:solidFill>
                  <a:schemeClr val="tx2"/>
                </a:solidFill>
              </a:rPr>
              <a:t>Shape the standards</a:t>
            </a:r>
            <a:endParaRPr lang="en-US" sz="2200" dirty="0"/>
          </a:p>
        </p:txBody>
      </p:sp>
      <p:sp>
        <p:nvSpPr>
          <p:cNvPr id="14" name="Text 9"/>
          <p:cNvSpPr txBox="1"/>
          <p:nvPr/>
        </p:nvSpPr>
        <p:spPr>
          <a:xfrm>
            <a:off x="1828800" y="5001768"/>
            <a:ext cx="5669280" cy="502920"/>
          </a:xfrm>
          <a:prstGeom prst="rect">
            <a:avLst/>
          </a:prstGeom>
          <a:noFill/>
          <a:ln/>
        </p:spPr>
        <p:txBody>
          <a:bodyPr wrap="square" lIns="0" tIns="0" rIns="0" bIns="0" rtlCol="0" anchor="t"/>
          <a:lstStyle/>
          <a:p>
            <a:pPr indent="0" marL="0">
              <a:buNone/>
            </a:pPr>
            <a:r>
              <a:rPr lang="en-US" sz="1600" dirty="0">
                <a:solidFill>
                  <a:schemeClr val="tx1"/>
                </a:solidFill>
              </a:rPr>
              <a:t>Review the questions, answer options and rules for your area.</a:t>
            </a:r>
            <a:endParaRPr lang="en-US" sz="1600" dirty="0"/>
          </a:p>
        </p:txBody>
      </p:sp>
      <p:sp>
        <p:nvSpPr>
          <p:cNvPr id="15" name="help-quote"/>
          <p:cNvSpPr/>
          <p:nvPr/>
        </p:nvSpPr>
        <p:spPr>
          <a:xfrm>
            <a:off x="7589520" y="1600200"/>
            <a:ext cx="4053535" cy="4206240"/>
          </a:xfrm>
          <a:prstGeom prst="roundRect">
            <a:avLst>
              <a:gd name="adj" fmla="val 2707"/>
            </a:avLst>
          </a:prstGeom>
          <a:solidFill>
            <a:schemeClr val="accent1"/>
          </a:solidFill>
          <a:ln w="12700">
            <a:solidFill>
              <a:schemeClr val="accent1"/>
            </a:solidFill>
            <a:prstDash val="solid"/>
          </a:ln>
        </p:spPr>
      </p:sp>
      <p:sp>
        <p:nvSpPr>
          <p:cNvPr id="16" name="Text 11"/>
          <p:cNvSpPr txBox="1"/>
          <p:nvPr/>
        </p:nvSpPr>
        <p:spPr>
          <a:xfrm>
            <a:off x="7955280" y="1965960"/>
            <a:ext cx="3322015" cy="3474720"/>
          </a:xfrm>
          <a:prstGeom prst="rect">
            <a:avLst/>
          </a:prstGeom>
          <a:noFill/>
          <a:ln/>
        </p:spPr>
        <p:txBody>
          <a:bodyPr wrap="square" lIns="0" tIns="0" rIns="0" bIns="0" rtlCol="0" anchor="ctr"/>
          <a:lstStyle/>
          <a:p>
            <a:pPr indent="0" marL="0">
              <a:buNone/>
            </a:pPr>
            <a:r>
              <a:rPr lang="en-US" sz="2000" i="1" dirty="0">
                <a:solidFill>
                  <a:schemeClr val="bg1"/>
                </a:solidFill>
              </a:rPr>
              <a:t>The answer options and best-practice rules are simple settings files, so improving them doesn't need a developer.</a:t>
            </a:r>
            <a:endParaRPr lang="en-US" sz="2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64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6949440" cy="1280160"/>
          </a:xfrm>
          <a:prstGeom prst="rect">
            <a:avLst/>
          </a:prstGeom>
          <a:noFill/>
          <a:ln/>
        </p:spPr>
        <p:txBody>
          <a:bodyPr wrap="square" lIns="0" tIns="0" rIns="0" bIns="0" rtlCol="0" anchor="b"/>
          <a:lstStyle/>
          <a:p>
            <a:pPr algn="l" indent="0" marL="0">
              <a:buNone/>
            </a:pPr>
            <a:r>
              <a:rPr lang="en-US" sz="4800" b="1" dirty="0">
                <a:solidFill>
                  <a:schemeClr val="bg1"/>
                </a:solidFill>
              </a:rPr>
              <a:t>Questions?</a:t>
            </a:r>
            <a:endParaRPr lang="en-US" sz="4800" dirty="0"/>
          </a:p>
        </p:txBody>
      </p:sp>
      <p:sp>
        <p:nvSpPr>
          <p:cNvPr id="3" name="Text 0"/>
          <p:cNvSpPr/>
          <p:nvPr>
            <p:ph idx="101" type="body" hasCustomPrompt="1"/>
          </p:nvPr>
        </p:nvSpPr>
        <p:spPr>
          <a:xfrm>
            <a:off x="548640" y="3520440"/>
            <a:ext cx="6583680" cy="1188720"/>
          </a:xfrm>
          <a:prstGeom prst="rect">
            <a:avLst/>
          </a:prstGeom>
          <a:noFill/>
          <a:ln/>
        </p:spPr>
        <p:txBody>
          <a:bodyPr wrap="square" lIns="0" tIns="0" rIns="0" bIns="0" rtlCol="0" anchor="t"/>
          <a:lstStyle/>
          <a:p>
            <a:pPr algn="l" indent="0" marL="0">
              <a:buNone/>
            </a:pPr>
            <a:r>
              <a:rPr lang="en-US" sz="2000" dirty="0">
                <a:solidFill>
                  <a:schemeClr val="accent4"/>
                </a:solidFill>
              </a:rPr>
              <a:t>ArchitectureScope: one journey, from the first call to go-live</a:t>
            </a:r>
            <a:endParaRPr lang="en-US" sz="2000" dirty="0"/>
          </a:p>
        </p:txBody>
      </p:sp>
      <p:sp>
        <p:nvSpPr>
          <p:cNvPr id="4" name="close-icon-circle"/>
          <p:cNvSpPr/>
          <p:nvPr/>
        </p:nvSpPr>
        <p:spPr>
          <a:xfrm>
            <a:off x="8869680" y="2194560"/>
            <a:ext cx="2103120" cy="2103120"/>
          </a:xfrm>
          <a:prstGeom prst="ellipse">
            <a:avLst/>
          </a:prstGeom>
          <a:solidFill>
            <a:schemeClr val="accent2"/>
          </a:solidFill>
          <a:ln w="12700">
            <a:solidFill>
              <a:schemeClr val="accent2"/>
            </a:solidFill>
            <a:prstDash val="solid"/>
          </a:ln>
        </p:spPr>
      </p:sp>
      <p:pic>
        <p:nvPicPr>
          <p:cNvPr id="5" name="close-icon-icon" descr="FaComments">    </p:cNvPr>
          <p:cNvPicPr>
            <a:picLocks noChangeAspect="1"/>
          </p:cNvPicPr>
          <p:nvPr/>
        </p:nvPicPr>
        <p:blipFill>
          <a:blip r:embed="rId1"/>
          <a:stretch>
            <a:fillRect/>
          </a:stretch>
        </p:blipFill>
        <p:spPr>
          <a:xfrm>
            <a:off x="9395460" y="2720340"/>
            <a:ext cx="1051560" cy="1051560"/>
          </a:xfrm>
          <a:prstGeom prst="rect">
            <a:avLst/>
          </a:prstGeom>
        </p:spPr>
      </p:pic>
    </p:spTree>
  </p:cSld>
  <p:clrMapOvr>
    <a:masterClrMapping/>
  </p:clrMapOvr>
</p:sld>
</file>

<file path=ppt/theme/theme1.xml><?xml version="1.0" encoding="utf-8"?>
<a:theme xmlns:a="http://schemas.openxmlformats.org/drawingml/2006/main" name="ArchitectureScope">
  <a:themeElements>
    <a:clrScheme name="ArchitectureScope">
      <a:dk1>
        <a:srgbClr val="14121F"/>
      </a:dk1>
      <a:lt1>
        <a:srgbClr val="FFFFFF"/>
      </a:lt1>
      <a:dk2>
        <a:srgbClr val="2A2058"/>
      </a:dk2>
      <a:lt2>
        <a:srgbClr val="F6F5FA"/>
      </a:lt2>
      <a:accent1>
        <a:srgbClr val="3D2E7C"/>
      </a:accent1>
      <a:accent2>
        <a:srgbClr val="F7791D"/>
      </a:accent2>
      <a:accent3>
        <a:srgbClr val="5B45B0"/>
      </a:accent3>
      <a:accent4>
        <a:srgbClr val="DED9F2"/>
      </a:accent4>
      <a:accent5>
        <a:srgbClr val="E4E1EE"/>
      </a:accent5>
      <a:accent6>
        <a:srgbClr val="6A6482"/>
      </a:accent6>
      <a:hlink>
        <a:srgbClr val="5B45B0"/>
      </a:hlink>
      <a:folHlink>
        <a:srgbClr val="3D2E7C"/>
      </a:folHlink>
    </a:clrScheme>
    <a:fontScheme name="ArchitectureScop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ArchitectureScope — Company presentation</dc:title>
  <dc:subject>What ArchitectureScope does and where it is going</dc:subject>
  <dc:creator>ArchitectureScope</dc:creator>
  <cp:lastModifiedBy>ArchitectureScope</cp:lastModifiedBy>
  <cp:revision>1</cp:revision>
  <dcterms:created xsi:type="dcterms:W3CDTF">2026-10-06T15:03:29Z</dcterms:created>
  <dcterms:modified xsi:type="dcterms:W3CDTF">2026-10-06T15:03:29Z</dcterms:modified>
</cp:coreProperties>
</file>